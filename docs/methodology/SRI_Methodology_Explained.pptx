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32720" cy="45720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How We Measure NEP Readiness: The School Readiness Index (SRI)</a:t>
            </a:r>
          </a:p>
          <a:p>
            <a:pPr>
              <a:spcBef>
                <a:spcPts val="1600"/>
              </a:spcBef>
              <a:defRPr sz="1400" b="0">
                <a:solidFill>
                  <a:srgbClr val="2D3748"/>
                </a:solidFill>
              </a:defRPr>
            </a:pPr>
          </a:p>
          <a:p>
            <a:pPr>
              <a:spcBef>
                <a:spcPts val="1200"/>
              </a:spcBef>
              <a:defRPr sz="2000" b="0">
                <a:solidFill>
                  <a:srgbClr val="93C5FD"/>
                </a:solidFill>
              </a:defRPr>
            </a:pPr>
            <a:r>
              <a:t>A detailed guide — formulas explained in everyday language</a:t>
            </a:r>
          </a:p>
          <a:p>
            <a:pPr>
              <a:spcBef>
                <a:spcPts val="2000"/>
              </a:spcBef>
              <a:defRPr sz="1400" b="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93C5FD"/>
                </a:solidFill>
              </a:defRPr>
            </a:pPr>
            <a:r>
              <a:t>Deccan Education Society — Kshitij Pilot</a:t>
            </a:r>
          </a:p>
          <a:p>
            <a:pPr>
              <a:spcBef>
                <a:spcPts val="800"/>
              </a:spcBef>
              <a:defRPr sz="1400" b="0">
                <a:solidFill>
                  <a:srgbClr val="93C5FD"/>
                </a:solidFill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What is SRI?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1A365D"/>
                </a:solidFill>
              </a:defRPr>
            </a:pPr>
            <a:r>
              <a:t>  The School Readiness Index is like a health checkup for your school.</a:t>
            </a:r>
          </a:p>
          <a:p>
            <a:pPr>
              <a:spcBef>
                <a:spcPts val="800"/>
              </a:spcBef>
              <a:defRPr sz="1400" b="0">
                <a:solidFill>
                  <a:srgbClr val="2D3748"/>
                </a:solidFill>
              </a:defRPr>
            </a:pPr>
            <a:r>
              <a:t>  Instead of checking blood pressure, it checks how ready your school is for NEP 2020.</a:t>
            </a:r>
          </a:p>
          <a:p>
            <a:pPr>
              <a:spcBef>
                <a:spcPts val="800"/>
              </a:spcBef>
              <a:defRPr sz="1400" b="0">
                <a:solidFill>
                  <a:srgbClr val="2B6CB0"/>
                </a:solidFill>
              </a:defRPr>
            </a:pPr>
            <a:r>
              <a:t>  Each branch gets a single score from 0 to 100, built from 5 independent areas.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11247120" cy="548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E40AF"/>
                </a:solidFill>
              </a:defRPr>
            </a:pPr>
            <a:r>
              <a:t>  Like a fitness test checks strength, flexibility, stamina separately, then combines into one picture.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20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C1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023360"/>
            <a:ext cx="201168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402336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8B5CF6"/>
                </a:solidFill>
              </a:defRPr>
            </a:pPr>
            <a:r>
              <a:t>25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C2 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4023360"/>
            <a:ext cx="201168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20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C3 Capacity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4023360"/>
            <a:ext cx="201168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59" y="402336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20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C4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59" y="4023360"/>
            <a:ext cx="201168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402336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6B7280"/>
                </a:solidFill>
              </a:defRPr>
            </a:pPr>
            <a:r>
              <a:t>15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C5 Ecosystem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4023360"/>
            <a:ext cx="2011680" cy="635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5577840"/>
            <a:ext cx="1124712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5F"/>
                </a:solidFill>
              </a:defRPr>
            </a:pPr>
            <a:r>
              <a:t>  Total = 100 pts   |   Currently achievable: 85 (Ecosystem not yet measured)   |   SRI = C1 + C2 + C3 + C4 + C5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C1 — Intent: Do teachers and leaders share the same NEP vision?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  We surveyed both teachers and leaders about 5 NEP Focus Points:</a:t>
            </a:r>
          </a:p>
          <a:p>
            <a:pPr>
              <a:spcBef>
                <a:spcPts val="800"/>
              </a:spcBef>
              <a:defRPr sz="1300" b="0">
                <a:solidFill>
                  <a:srgbClr val="2B6CB0"/>
                </a:solidFill>
              </a:defRPr>
            </a:pPr>
            <a:r>
              <a:t>  FP1: Each Child is Unique  |  FP2: Competency-Based Learning  |  FP3: Teacher Upskilling</a:t>
            </a:r>
          </a:p>
          <a:p>
            <a:pPr>
              <a:spcBef>
                <a:spcPts val="400"/>
              </a:spcBef>
              <a:defRPr sz="1300" b="0">
                <a:solidFill>
                  <a:srgbClr val="2B6CB0"/>
                </a:solidFill>
              </a:defRPr>
            </a:pPr>
            <a:r>
              <a:t>  FP4: Diagnosing Learning Levels  |  FP5: Parent-Teacher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1E40AF"/>
                </a:solidFill>
              </a:defRPr>
            </a:pPr>
            <a:r>
              <a:t>  Analogy: A rowing team — even the strongest rowers won't win if they're pulling in different directions.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56616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Coverage</a:t>
            </a:r>
          </a:p>
          <a:p>
            <a:pPr algn="ctr">
              <a:spcBef>
                <a:spcPts val="1200"/>
              </a:spcBef>
              <a:defRPr sz="1200" b="0">
                <a:solidFill>
                  <a:srgbClr val="2D3748"/>
                </a:solidFill>
              </a:defRPr>
            </a:pPr>
            <a:r>
              <a:t>How many of the 5 areas</a:t>
            </a:r>
            <a:br/>
            <a:r>
              <a:t>did people respond about?</a:t>
            </a:r>
          </a:p>
          <a:p>
            <a:pPr algn="ctr">
              <a:spcBef>
                <a:spcPts val="1200"/>
              </a:spcBef>
              <a:defRPr sz="1100" b="0">
                <a:solidFill>
                  <a:srgbClr val="718096"/>
                </a:solidFill>
              </a:defRPr>
            </a:pPr>
            <a:r>
              <a:t>If all 5: score = 1.0</a:t>
            </a:r>
            <a:br/>
            <a:r>
              <a:t>If only 3: score = 0.6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347472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356616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B6CB0"/>
                </a:solidFill>
              </a:defRPr>
            </a:pPr>
            <a:r>
              <a:t>Balance</a:t>
            </a:r>
          </a:p>
          <a:p>
            <a:pPr algn="ctr">
              <a:spcBef>
                <a:spcPts val="1200"/>
              </a:spcBef>
              <a:defRPr sz="1200" b="0">
                <a:solidFill>
                  <a:srgbClr val="2D3748"/>
                </a:solidFill>
              </a:defRPr>
            </a:pPr>
            <a:r>
              <a:t>Are responses spread evenly</a:t>
            </a:r>
            <a:br/>
            <a:r>
              <a:t>across the 5 areas?</a:t>
            </a:r>
          </a:p>
          <a:p>
            <a:pPr algn="ctr">
              <a:spcBef>
                <a:spcPts val="1200"/>
              </a:spcBef>
              <a:defRPr sz="1100" b="0">
                <a:solidFill>
                  <a:srgbClr val="718096"/>
                </a:solidFill>
              </a:defRPr>
            </a:pPr>
            <a:r>
              <a:t>Evenly spread: score ~1.0</a:t>
            </a:r>
            <a:br/>
            <a:r>
              <a:t>One area dominates: ~0.0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3566160"/>
            <a:ext cx="3474720" cy="635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356616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A169"/>
                </a:solidFill>
              </a:defRPr>
            </a:pPr>
            <a:r>
              <a:t>Alignment</a:t>
            </a:r>
          </a:p>
          <a:p>
            <a:pPr algn="ctr">
              <a:spcBef>
                <a:spcPts val="1200"/>
              </a:spcBef>
              <a:defRPr sz="1200" b="0">
                <a:solidFill>
                  <a:srgbClr val="2D3748"/>
                </a:solidFill>
              </a:defRPr>
            </a:pPr>
            <a:r>
              <a:t>Do teachers and leaders</a:t>
            </a:r>
            <a:br/>
            <a:r>
              <a:t>agree on priorities?</a:t>
            </a:r>
          </a:p>
          <a:p>
            <a:pPr algn="ctr">
              <a:spcBef>
                <a:spcPts val="1200"/>
              </a:spcBef>
              <a:defRPr sz="1100" b="0">
                <a:solidFill>
                  <a:srgbClr val="718096"/>
                </a:solidFill>
              </a:defRPr>
            </a:pPr>
            <a:r>
              <a:t>Same priority order: ~1.0</a:t>
            </a:r>
            <a:br/>
            <a:r>
              <a:t>Very different: ~0.0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566160"/>
            <a:ext cx="3474720" cy="635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6400800"/>
            <a:ext cx="11247120" cy="365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  C1 = 10 x Teacher(Coverage x Balance x Alignment) + 10 x Leader(Coverage x Balance x Alignment)  |  Max =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C1 — How the Math Works (in plain language)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1: Depth Score per area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For each focus point, average all responses (0-3) and divide</a:t>
            </a:r>
            <a:br/>
            <a:r>
              <a:t>by 3. Gives a 0-to-1 score. E.g., average response 2.4/3 = 0.80.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35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2: Coverage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Count how many of the 5 areas got a score above 10%,</a:t>
            </a:r>
            <a:br/>
            <a:r>
              <a:t>then divide by 5. All 5 active = 5/5 = 1.0 (100%).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635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3: Balance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Compare how spread-out the 5 scores are vs. the worst</a:t>
            </a:r>
            <a:br/>
            <a:r>
              <a:t>possible spread. Equal scores = ~1.0. Lopsided = ~0.0.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635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4: Alignment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Compare teacher priorities vs. leader priorities.</a:t>
            </a:r>
            <a:br/>
            <a:r>
              <a:t>"Do both groups rank the 5 areas in the same order?"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651760"/>
            <a:ext cx="635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5: Combine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Teacher Score = Coverage x Balance x Alignment.  Leader Score = same.  C1 = 10 x Teacher + 10 x Leader.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635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11247120" cy="1188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  Worked Example — Branch M001 (Ahilyadevi High School)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Teacher score = 0.989 (excellent coverage, balance, alignment)</a:t>
            </a:r>
          </a:p>
          <a:p>
            <a:pPr>
              <a:spcBef>
                <a:spcPts val="400"/>
              </a:spcBef>
              <a:defRPr sz="1200" b="0">
                <a:solidFill>
                  <a:srgbClr val="2D3748"/>
                </a:solidFill>
              </a:defRPr>
            </a:pPr>
            <a:r>
              <a:t>  Leader score = 0.971  |  Alignment between them = 0.994 (nearly identical priorities)</a:t>
            </a:r>
          </a:p>
          <a:p>
            <a:pPr>
              <a:spcBef>
                <a:spcPts val="600"/>
              </a:spcBef>
              <a:defRPr sz="1300" b="1">
                <a:solidFill>
                  <a:srgbClr val="166534"/>
                </a:solidFill>
              </a:defRPr>
            </a:pPr>
            <a:r>
              <a:t>  C1 = 10 x 0.989 + 10 x 0.971 = 19.6 out of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400800"/>
            <a:ext cx="11247120" cy="36576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9A3412"/>
                </a:solidFill>
              </a:defRPr>
            </a:pPr>
            <a:r>
              <a:t>  If a branch has only teachers OR only leaders (not both), Alignment = 0 and C1 = 0. Both roles must be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C2 — Practice: How deeply are teachers practising NEP ideas?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  Same teacher survey as C1, but now each answer is read as a depth level.</a:t>
            </a:r>
          </a:p>
          <a:p>
            <a:pPr>
              <a:spcBef>
                <a:spcPts val="600"/>
              </a:spcBef>
              <a:defRPr sz="1400" b="0">
                <a:solidFill>
                  <a:srgbClr val="2B6CB0"/>
                </a:solidFill>
              </a:defRPr>
            </a:pPr>
            <a:r>
              <a:t>  Higher depth = teachers are not just aware, they're actively doing it in class.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1247120" cy="4572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553C9A"/>
                </a:solidFill>
              </a:defRPr>
            </a:pPr>
            <a:r>
              <a:t>  Analogy: Learning to swim — first you wade (Level 1), then float (2), then swim laps (3), then dive deep (4).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Level 1</a:t>
            </a:r>
          </a:p>
          <a:p>
            <a:pPr algn="ctr">
              <a:spcBef>
                <a:spcPts val="800"/>
              </a:spcBef>
              <a:defRPr sz="1200" b="0">
                <a:solidFill>
                  <a:srgbClr val="2D3748"/>
                </a:solidFill>
              </a:defRPr>
            </a:pPr>
            <a:r>
              <a:t>Surface awareness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"I've heard of it"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2560320" cy="635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301752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Level 2</a:t>
            </a:r>
          </a:p>
          <a:p>
            <a:pPr algn="ctr">
              <a:spcBef>
                <a:spcPts val="800"/>
              </a:spcBef>
              <a:defRPr sz="1200" b="0">
                <a:solidFill>
                  <a:srgbClr val="2D3748"/>
                </a:solidFill>
              </a:defRPr>
            </a:pPr>
            <a:r>
              <a:t>Beginning practice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"I'm starting to try"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017520"/>
            <a:ext cx="2560320" cy="635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301752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Level 3</a:t>
            </a:r>
          </a:p>
          <a:p>
            <a:pPr algn="ctr">
              <a:spcBef>
                <a:spcPts val="800"/>
              </a:spcBef>
              <a:defRPr sz="1200" b="0">
                <a:solidFill>
                  <a:srgbClr val="2D3748"/>
                </a:solidFill>
              </a:defRPr>
            </a:pPr>
            <a:r>
              <a:t>Active practice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"I do it regularly"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017520"/>
            <a:ext cx="2560320" cy="635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3017520"/>
            <a:ext cx="25603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Level 4</a:t>
            </a:r>
          </a:p>
          <a:p>
            <a:pPr algn="ctr">
              <a:spcBef>
                <a:spcPts val="800"/>
              </a:spcBef>
              <a:defRPr sz="1200" b="0">
                <a:solidFill>
                  <a:srgbClr val="2D3748"/>
                </a:solidFill>
              </a:defRPr>
            </a:pPr>
            <a:r>
              <a:t>Deep integration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"It shapes my teaching"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3017520"/>
            <a:ext cx="256032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11247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718096"/>
                </a:solidFill>
              </a:defRPr>
            </a:pPr>
            <a:r>
              <a:t>  Some focus-area + level combinations can't be observed in real classrooms:</a:t>
            </a:r>
          </a:p>
          <a:p>
            <a:pPr>
              <a:spcBef>
                <a:spcPts val="400"/>
              </a:spcBef>
              <a:defRPr sz="1200" b="0">
                <a:solidFill>
                  <a:srgbClr val="718096"/>
                </a:solidFill>
              </a:defRPr>
            </a:pPr>
            <a:r>
              <a:t>  FP1 at Level 1 (too vague to see)  |  FP1 at Level 4 (not achievable yet)  |  FP2 at Level 4 (same)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7784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  C2 = 25 x (fraction of FPs covered) x (average normalised depth across FPs)  |  Max =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C2 — How the Math Works (in plain language)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1: Build a depth grid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For each FP (1-5) and depth (1-4), count how many</a:t>
            </a:r>
            <a:br/>
            <a:r>
              <a:t>teachers are at that level. Creates a 5 x 4 grid.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350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2: Remove impossible cells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Zero out combinations that can't be observed in class:</a:t>
            </a:r>
            <a:br/>
            <a:r>
              <a:t>FP1-Level1, FP1-Level4, FP2-Level4.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6350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3: Average depth per FP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Weighted average of levels (using observable cells only).</a:t>
            </a:r>
            <a:br/>
            <a:r>
              <a:t>Higher average = teachers practise at deeper levels.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6350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4: Normalise to 0-1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Each FP has different max depth (FP1/2: max 2.0,</a:t>
            </a:r>
            <a:br/>
            <a:r>
              <a:t>FP3-5: max 3.0). Scale each to a 0-to-1 range.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651760"/>
            <a:ext cx="6350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5: Combine into Depth Effectiveness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Coverage = (FPs with data) / 5.  Depth Effectiveness = Coverage x average(normalised depths).  C2 = 25 x Depth Effectiveness.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635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11247120" cy="914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  Worked Example — Branch M001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All 5 FPs covered. Depth Effectiveness = 0.546 (mid-range — teachers aware but not deeply practising yet).</a:t>
            </a:r>
          </a:p>
          <a:p>
            <a:pPr>
              <a:spcBef>
                <a:spcPts val="600"/>
              </a:spcBef>
              <a:defRPr sz="1300" b="1">
                <a:solidFill>
                  <a:srgbClr val="166534"/>
                </a:solidFill>
              </a:defRPr>
            </a:pPr>
            <a:r>
              <a:t>  C2 = 25 x 0.546 = 13.65 out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C3 — Capacity: Can teachers think at higher levels?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  MathTangle — an adaptive maths test that gets harder or easier based on each teacher's answers.</a:t>
            </a:r>
          </a:p>
          <a:p>
            <a:pPr>
              <a:spcBef>
                <a:spcPts val="600"/>
              </a:spcBef>
              <a:defRPr sz="1300" b="0">
                <a:solidFill>
                  <a:srgbClr val="2B6CB0"/>
                </a:solidFill>
              </a:defRPr>
            </a:pPr>
            <a:r>
              <a:t>  107 teachers across 28 branches. Tests thinking ability, not maths content knowledge.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1247120" cy="457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065F46"/>
                </a:solidFill>
              </a:defRPr>
            </a:pPr>
            <a:r>
              <a:t>  Analogy: A cognitive fitness test — measuring thinking strength, not textbook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Higher-Order</a:t>
            </a:r>
            <a:br/>
            <a:r>
              <a:t>Thinking</a:t>
            </a:r>
          </a:p>
          <a:p>
            <a:pPr algn="ctr">
              <a:spcBef>
                <a:spcPts val="1000"/>
              </a:spcBef>
              <a:defRPr sz="1100" b="0">
                <a:solidFill>
                  <a:srgbClr val="2D3748"/>
                </a:solidFill>
              </a:defRPr>
            </a:pPr>
            <a:r>
              <a:t>What fraction of answers</a:t>
            </a:r>
            <a:br/>
            <a:r>
              <a:t>were at the harder 'analyse'</a:t>
            </a:r>
            <a:br/>
            <a:r>
              <a:t>and 'evaluate' levels?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25603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30175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Tackling Harder</a:t>
            </a:r>
            <a:br/>
            <a:r>
              <a:t>Problems</a:t>
            </a:r>
          </a:p>
          <a:p>
            <a:pPr algn="ctr">
              <a:spcBef>
                <a:spcPts val="1000"/>
              </a:spcBef>
              <a:defRPr sz="1100" b="0">
                <a:solidFill>
                  <a:srgbClr val="2D3748"/>
                </a:solidFill>
              </a:defRPr>
            </a:pPr>
            <a:r>
              <a:t>Average accuracy on</a:t>
            </a:r>
            <a:br/>
            <a:r>
              <a:t>the medium and hard</a:t>
            </a:r>
            <a:br/>
            <a:r>
              <a:t>difficulty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3017520"/>
            <a:ext cx="2560320" cy="635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30175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Thoughtful</a:t>
            </a:r>
            <a:br/>
            <a:r>
              <a:t>Revision</a:t>
            </a:r>
          </a:p>
          <a:p>
            <a:pPr algn="ctr">
              <a:spcBef>
                <a:spcPts val="1000"/>
              </a:spcBef>
              <a:defRPr sz="1100" b="0">
                <a:solidFill>
                  <a:srgbClr val="2D3748"/>
                </a:solidFill>
              </a:defRPr>
            </a:pPr>
            <a:r>
              <a:t>Low indecision = good.</a:t>
            </a:r>
            <a:br/>
            <a:r>
              <a:t>Rewards deliberate,</a:t>
            </a:r>
            <a:br/>
            <a:r>
              <a:t>confident thinking.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017520"/>
            <a:ext cx="2560320" cy="635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30175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Consistency</a:t>
            </a:r>
          </a:p>
          <a:p>
            <a:pPr algn="ctr">
              <a:spcBef>
                <a:spcPts val="1000"/>
              </a:spcBef>
              <a:defRPr sz="1100" b="0">
                <a:solidFill>
                  <a:srgbClr val="2D3748"/>
                </a:solidFill>
              </a:defRPr>
            </a:pPr>
            <a:r>
              <a:t>Few flip-flops = good.</a:t>
            </a:r>
            <a:br/>
            <a:r>
              <a:t>Steady performance</a:t>
            </a:r>
            <a:br/>
            <a:r>
              <a:t>throughout the 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3017520"/>
            <a:ext cx="2560320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  Each dimension scores 0-1. CPI per teacher = average of all 4. C3 = 20 x branch average CPI  |  Max =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C3 — How the Math Works (in plain language)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1: Higher-Order Thinking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Count 'Analyse' + 'Evaluate' questions answered correctly.</a:t>
            </a:r>
            <a:br/>
            <a:r>
              <a:t>Divide by total cognitive questions.</a:t>
            </a:r>
            <a:br/>
            <a:r>
              <a:t>More hard-thinking correct = higher 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350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03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2: Tackling Harder Problems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Test has 3 difficulty tiers (Easy, Medium, Hard).</a:t>
            </a:r>
            <a:br/>
            <a:r>
              <a:t>Average accuracy on Medium and Hard.</a:t>
            </a:r>
            <a:br/>
            <a:r>
              <a:t>E.g., 70% Medium + 50% Hard = (0.7+0.5)/2 = 0.60.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6350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303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3: Thoughtful Revision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Score = 1 minus (your indecision / worst indecision).</a:t>
            </a:r>
            <a:br/>
            <a:r>
              <a:t>Compared to the most indecisive teacher across ALL branches.</a:t>
            </a:r>
            <a:br/>
            <a:r>
              <a:t>Low hesitation = high score = confident thinking.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6350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4: Consistency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Score = 1 minus (flip-flops / total questions).</a:t>
            </a:r>
            <a:br/>
            <a:r>
              <a:t>30 questions, 3 flip-flops = 1 - 3/30 = 0.90.</a:t>
            </a:r>
            <a:br/>
            <a:r>
              <a:t>Fewer random changes = more reliable thinking.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6350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11247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5: Combine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CPI per teacher = average of 4 dimensions.  Branch CPI = average across all teachers.  C3 = 20 x Branch CPI.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635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11247120" cy="914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  Worked Example — Branch M001 (7 teachers tested)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Average CPI across 7 teachers = 0.763 (solid but room for improvement on higher-order questions).</a:t>
            </a:r>
          </a:p>
          <a:p>
            <a:pPr>
              <a:spcBef>
                <a:spcPts val="600"/>
              </a:spcBef>
              <a:defRPr sz="1300" b="1">
                <a:solidFill>
                  <a:srgbClr val="166534"/>
                </a:solidFill>
              </a:defRPr>
            </a:pPr>
            <a:r>
              <a:t>  C3 = 20 x 0.763 = 15.26 out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C4 — System: Does the school culture support NEP?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0">
                <a:solidFill>
                  <a:srgbClr val="2D3748"/>
                </a:solidFill>
              </a:defRPr>
            </a:pPr>
            <a:r>
              <a:t>  Survey: teachers and leaders respond Strongly Agree / Agree / Disagree / Strongly Disagree.</a:t>
            </a:r>
          </a:p>
          <a:p>
            <a:pPr>
              <a:spcBef>
                <a:spcPts val="600"/>
              </a:spcBef>
              <a:defRPr sz="1300" b="0">
                <a:solidFill>
                  <a:srgbClr val="2B6CB0"/>
                </a:solidFill>
              </a:defRPr>
            </a:pPr>
            <a:r>
              <a:t>  676 respondents, 12,576 individual response rows.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1247120" cy="4572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92400E"/>
                </a:solidFill>
              </a:defRPr>
            </a:pPr>
            <a:r>
              <a:t>  Analogy: Checking if the soil is right for the plant — teachers can only thrive if the school system supports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  Teacher Areas (Enablement)</a:t>
            </a:r>
          </a:p>
          <a:p>
            <a:pPr>
              <a:spcBef>
                <a:spcPts val="800"/>
              </a:spcBef>
              <a:defRPr sz="1200" b="0">
                <a:solidFill>
                  <a:srgbClr val="2D3748"/>
                </a:solidFill>
              </a:defRPr>
            </a:pPr>
            <a:r>
              <a:t>    A1 — Continuous Learning Diagnostics</a:t>
            </a:r>
          </a:p>
          <a:p>
            <a:pPr>
              <a:spcBef>
                <a:spcPts val="800"/>
              </a:spcBef>
              <a:defRPr sz="1200" b="0">
                <a:solidFill>
                  <a:srgbClr val="2D3748"/>
                </a:solidFill>
              </a:defRPr>
            </a:pPr>
            <a:r>
              <a:t>    A2 — Teacher Development</a:t>
            </a:r>
          </a:p>
          <a:p>
            <a:pPr>
              <a:spcBef>
                <a:spcPts val="800"/>
              </a:spcBef>
              <a:defRPr sz="1200" b="0">
                <a:solidFill>
                  <a:srgbClr val="2D3748"/>
                </a:solidFill>
              </a:defRPr>
            </a:pPr>
            <a:r>
              <a:t>    A3 — Holistic Progress Card</a:t>
            </a:r>
          </a:p>
          <a:p>
            <a:pPr>
              <a:spcBef>
                <a:spcPts val="800"/>
              </a:spcBef>
              <a:defRPr sz="1200" b="0">
                <a:solidFill>
                  <a:srgbClr val="2D3748"/>
                </a:solidFill>
              </a:defRPr>
            </a:pPr>
            <a:r>
              <a:t>    A4 — Parent &amp; Community</a:t>
            </a:r>
          </a:p>
          <a:p>
            <a:pPr>
              <a:spcBef>
                <a:spcPts val="1200"/>
              </a:spcBef>
              <a:defRPr sz="1100" b="1">
                <a:solidFill>
                  <a:srgbClr val="F59E0B"/>
                </a:solidFill>
              </a:defRPr>
            </a:pPr>
            <a:r>
              <a:t>    Enablement Index = average of A1, A2, A3, A4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63500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  Leader Areas (Routine)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  B1 — NEP Governance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  B2 — Data-Informed Decisions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  B3 — Teacher Development Culture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  B4 — Reporting &amp; Progress Cards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  B5 — Parent &amp; Community Partnerships</a:t>
            </a:r>
          </a:p>
          <a:p>
            <a:pPr>
              <a:spcBef>
                <a:spcPts val="800"/>
              </a:spcBef>
              <a:defRPr sz="1100" b="1">
                <a:solidFill>
                  <a:srgbClr val="2B6CB0"/>
                </a:solidFill>
              </a:defRPr>
            </a:pPr>
            <a:r>
              <a:t>    Routine Index = average of B1, B2, B3, B4, B5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017520"/>
            <a:ext cx="63500" cy="2743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  C4 = 10 x Enablement Index + 10 x Routine Index  |  Teachers up to 10 pts, Leaders up to 10 pts  |  Max =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C4 — How the Math Works (in plain language)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1: Convert every answer to Yes/No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Strongly Agree or Agree = 1 (positive).  Disagree or Strongly Disagree = 0 (negative).</a:t>
            </a:r>
            <a:br/>
            <a:r>
              <a:t>Why? A 4-point scale can be noisy. The key question: do they fundamentally agree or not?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35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11247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2: Average within each area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Group questions by area (A1, A2, ... B5). Calculate % positive.</a:t>
            </a:r>
            <a:br/>
            <a:r>
              <a:t>E.g., if 90% of A1 responses are Agree/SA, then A1 score = 0.90.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635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3035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3: Enablement Index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Average of A1, A2, A3, A4 scores.</a:t>
            </a:r>
            <a:br/>
            <a:r>
              <a:t>"How well do teachers feel supported?"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635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3035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1A365D"/>
                </a:solidFill>
              </a:defRPr>
            </a:pPr>
            <a:r>
              <a:t>    Step 4: Routine Index</a:t>
            </a:r>
          </a:p>
          <a:p>
            <a:pPr>
              <a:spcBef>
                <a:spcPts val="600"/>
              </a:spcBef>
              <a:defRPr sz="1100" b="0">
                <a:solidFill>
                  <a:srgbClr val="2D3748"/>
                </a:solidFill>
              </a:defRPr>
            </a:pPr>
            <a:r>
              <a:t>    Average of B1, B2, B3, B4, B5 scores.</a:t>
            </a:r>
            <a:br/>
            <a:r>
              <a:t>"How strong are leadership routines?"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657600"/>
            <a:ext cx="635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  Worked Example — Branch M001</a:t>
            </a:r>
          </a:p>
          <a:p>
            <a:pPr>
              <a:spcBef>
                <a:spcPts val="600"/>
              </a:spcBef>
              <a:defRPr sz="1200" b="0">
                <a:solidFill>
                  <a:srgbClr val="2D3748"/>
                </a:solidFill>
              </a:defRPr>
            </a:pPr>
            <a:r>
              <a:t>  Enablement Index (teachers) = 0.911 (91% positive across A1-A4)</a:t>
            </a:r>
          </a:p>
          <a:p>
            <a:pPr>
              <a:spcBef>
                <a:spcPts val="400"/>
              </a:spcBef>
              <a:defRPr sz="1200" b="0">
                <a:solidFill>
                  <a:srgbClr val="2D3748"/>
                </a:solidFill>
              </a:defRPr>
            </a:pPr>
            <a:r>
              <a:t>  Routine Index (leaders) = 0.850 (85% positive across B1-B5)</a:t>
            </a:r>
          </a:p>
          <a:p>
            <a:pPr>
              <a:spcBef>
                <a:spcPts val="600"/>
              </a:spcBef>
              <a:defRPr sz="1300" b="1">
                <a:solidFill>
                  <a:srgbClr val="166534"/>
                </a:solidFill>
              </a:defRPr>
            </a:pPr>
            <a:r>
              <a:t>  C4 = 10 x 0.911 + 10 x 0.850 = 17.61 out of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126480"/>
            <a:ext cx="11247120" cy="36576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9A3412"/>
                </a:solidFill>
              </a:defRPr>
            </a:pPr>
            <a:r>
              <a:t>  Branches without leader respondents get Routine Index = 0, capping C4 at roughly 10/20. Both roles must participate.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C5 — Ecosystem: Are parents and community involved?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  Education doesn't stop at the school gate — the whole village matters.</a:t>
            </a:r>
          </a:p>
          <a:p>
            <a:pPr>
              <a:spcBef>
                <a:spcPts val="600"/>
              </a:spcBef>
              <a:defRPr sz="1400" b="0">
                <a:solidFill>
                  <a:srgbClr val="2D3748"/>
                </a:solidFill>
              </a:defRPr>
            </a:pPr>
            <a:r>
              <a:t>  This construct will measure engagement from parents, students, and the wider community.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Parent Perception</a:t>
            </a:r>
            <a:br/>
            <a:r>
              <a:t>Survey</a:t>
            </a:r>
          </a:p>
          <a:p>
            <a:pPr algn="ctr">
              <a:spcBef>
                <a:spcPts val="1200"/>
              </a:spcBef>
              <a:defRPr sz="1200" b="0">
                <a:solidFill>
                  <a:srgbClr val="718096"/>
                </a:solidFill>
              </a:defRPr>
            </a:pPr>
            <a:r>
              <a:t>How do parents view</a:t>
            </a:r>
            <a:br/>
            <a:r>
              <a:t>the school's NEP efforts?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3474720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2377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Student Voice</a:t>
            </a:r>
            <a:br/>
            <a:r>
              <a:t>Survey</a:t>
            </a:r>
          </a:p>
          <a:p>
            <a:pPr algn="ctr">
              <a:spcBef>
                <a:spcPts val="1200"/>
              </a:spcBef>
              <a:defRPr sz="1200" b="0">
                <a:solidFill>
                  <a:srgbClr val="718096"/>
                </a:solidFill>
              </a:defRPr>
            </a:pPr>
            <a:r>
              <a:t>Do students feel changes</a:t>
            </a:r>
            <a:br/>
            <a:r>
              <a:t>in how they learn?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377440"/>
            <a:ext cx="3474720" cy="635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2377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365D"/>
                </a:solidFill>
              </a:defRPr>
            </a:pPr>
            <a:r>
              <a:t>Community Partnership</a:t>
            </a:r>
            <a:br/>
            <a:r>
              <a:t>Audit</a:t>
            </a:r>
          </a:p>
          <a:p>
            <a:pPr algn="ctr">
              <a:spcBef>
                <a:spcPts val="1200"/>
              </a:spcBef>
              <a:defRPr sz="1200" b="0">
                <a:solidFill>
                  <a:srgbClr val="718096"/>
                </a:solidFill>
              </a:defRPr>
            </a:pPr>
            <a:r>
              <a:t>Is the wider community</a:t>
            </a:r>
            <a:br/>
            <a:r>
              <a:t>engaged with the school?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377440"/>
            <a:ext cx="3474720" cy="635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4712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B7280"/>
                </a:solidFill>
              </a:defRPr>
            </a:pPr>
            <a:r>
              <a:t>  Status: Not yet deployed. All branches score 0 / 15.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  Once these instruments are in place, the maximum SRI rises from 85 to 100.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Putting It All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365D"/>
                </a:solidFill>
              </a:defRPr>
            </a:pPr>
            <a:r>
              <a:t>  SRI = C1 + C2 + C3 + C4 + C5</a:t>
            </a:r>
          </a:p>
          <a:p>
            <a:pPr algn="ctr">
              <a:spcBef>
                <a:spcPts val="800"/>
              </a:spcBef>
              <a:defRPr sz="1400" b="0">
                <a:solidFill>
                  <a:srgbClr val="2B6CB0"/>
                </a:solidFill>
              </a:defRPr>
            </a:pPr>
            <a:r>
              <a:t>  (up to 20) + (up to 25) + (up to 20) + (up to 20) + (up to 15) = up to 100</a:t>
            </a:r>
          </a:p>
          <a:p>
            <a:pPr algn="ctr">
              <a:spcBef>
                <a:spcPts val="600"/>
              </a:spcBef>
              <a:defRPr sz="1300" b="0">
                <a:solidFill>
                  <a:srgbClr val="718096"/>
                </a:solidFill>
              </a:defRPr>
            </a:pPr>
            <a:r>
              <a:t>  With C5 not yet measured, current max = 85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34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A169"/>
                </a:solidFill>
              </a:defRPr>
            </a:pPr>
            <a:r>
              <a:t>70%+ of max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60-85 / 85</a:t>
            </a:r>
          </a:p>
          <a:p>
            <a:pPr algn="ctr">
              <a:spcBef>
                <a:spcPts val="1000"/>
              </a:spcBef>
              <a:defRPr sz="1500" b="1">
                <a:solidFill>
                  <a:srgbClr val="1A365D"/>
                </a:solidFill>
              </a:defRPr>
            </a:pPr>
            <a:r>
              <a:t>Strong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718096"/>
                </a:solidFill>
              </a:defRPr>
            </a:pPr>
            <a:r>
              <a:t>Well on its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3474720" cy="635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2834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69E2E"/>
                </a:solidFill>
              </a:defRPr>
            </a:pPr>
            <a:r>
              <a:t>50-70%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43-59 / 85</a:t>
            </a:r>
          </a:p>
          <a:p>
            <a:pPr algn="ctr">
              <a:spcBef>
                <a:spcPts val="1000"/>
              </a:spcBef>
              <a:defRPr sz="1500" b="1">
                <a:solidFill>
                  <a:srgbClr val="1A365D"/>
                </a:solidFill>
              </a:defRPr>
            </a:pPr>
            <a:r>
              <a:t>Developing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718096"/>
                </a:solidFill>
              </a:defRPr>
            </a:pPr>
            <a:r>
              <a:t>Good base, gaps to address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834640"/>
            <a:ext cx="3474720" cy="635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283464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53E3E"/>
                </a:solidFill>
              </a:defRPr>
            </a:pPr>
            <a:r>
              <a:t>Below 50%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&lt; 43 / 85</a:t>
            </a:r>
          </a:p>
          <a:p>
            <a:pPr algn="ctr">
              <a:spcBef>
                <a:spcPts val="1000"/>
              </a:spcBef>
              <a:defRPr sz="1500" b="1">
                <a:solidFill>
                  <a:srgbClr val="1A365D"/>
                </a:solidFill>
              </a:defRPr>
            </a:pPr>
            <a:r>
              <a:t>Needs Attention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718096"/>
                </a:solidFill>
              </a:defRPr>
            </a:pPr>
            <a:r>
              <a:t>Focused effort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834640"/>
            <a:ext cx="347472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1124712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  Full Worked Example — Branch M001 (Ahilyadevi High School for Girls)</a:t>
            </a:r>
          </a:p>
          <a:p>
            <a:pPr>
              <a:spcBef>
                <a:spcPts val="600"/>
              </a:spcBef>
              <a:defRPr sz="1300" b="0">
                <a:solidFill>
                  <a:srgbClr val="2D3748"/>
                </a:solidFill>
              </a:defRPr>
            </a:pPr>
            <a:r>
              <a:t>  C1 = 19.60/20   C2 = 13.65/25   C3 = 15.26/20   C4 = 17.61/20   C5 = 0/15</a:t>
            </a:r>
          </a:p>
          <a:p>
            <a:pPr>
              <a:spcBef>
                <a:spcPts val="600"/>
              </a:spcBef>
              <a:defRPr sz="1400" b="1">
                <a:solidFill>
                  <a:srgbClr val="166534"/>
                </a:solidFill>
              </a:defRPr>
            </a:pPr>
            <a:r>
              <a:t>  SRI Total = 66.12 / 85 (78%) — Strong readiness band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Data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~717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1A365D"/>
                </a:solidFill>
              </a:defRPr>
            </a:pPr>
            <a:r>
              <a:t>Intent Survey</a:t>
            </a:r>
            <a:br/>
            <a:r>
              <a:t>Responses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Teachers + Leaders,</a:t>
            </a:r>
            <a:br/>
            <a:r>
              <a:t>EN &amp; MR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107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1A365D"/>
                </a:solidFill>
              </a:defRPr>
            </a:pPr>
            <a:r>
              <a:t>MathTangle</a:t>
            </a:r>
            <a:br/>
            <a:r>
              <a:t>Test Takers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Adaptive cognitive</a:t>
            </a:r>
            <a:br/>
            <a: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34747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676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1A365D"/>
                </a:solidFill>
              </a:defRPr>
            </a:pPr>
            <a:r>
              <a:t>System Survey</a:t>
            </a:r>
            <a:br/>
            <a:r>
              <a:t>Respondents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718096"/>
                </a:solidFill>
              </a:defRPr>
            </a:pPr>
            <a:r>
              <a:t>12,576 individual</a:t>
            </a:r>
            <a:br/>
            <a:r>
              <a:t>response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371600"/>
            <a:ext cx="347472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37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DES Branches</a:t>
            </a:r>
            <a:br/>
            <a:r>
              <a:t>Scored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3474720" cy="635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3840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8A169"/>
                </a:solidFill>
              </a:defRPr>
            </a:pPr>
            <a:r>
              <a:t>25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Branches with</a:t>
            </a:r>
            <a:br/>
            <a:r>
              <a:t>All 4 Constructs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840480"/>
            <a:ext cx="3474720" cy="635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3840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E53E3E"/>
                </a:solidFill>
              </a:defRPr>
            </a:pPr>
            <a:r>
              <a:t>2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718096"/>
                </a:solidFill>
              </a:defRPr>
            </a:pPr>
            <a:r>
              <a:t>Excluded</a:t>
            </a:r>
            <a:br/>
            <a:r>
              <a:t>(demo/test)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840480"/>
            <a:ext cx="347472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5F"/>
                </a:solidFill>
              </a:defRPr>
            </a:pPr>
            <a:r>
              <a:t>  Average SRI among 25 complete branches: ~65/85 (76%) — Strong readiness band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How the 5 Areas Connect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C1 Intent</a:t>
            </a:r>
          </a:p>
          <a:p>
            <a:pPr algn="ctr">
              <a:spcBef>
                <a:spcPts val="1400"/>
              </a:spcBef>
              <a:defRPr sz="1300" b="0">
                <a:solidFill>
                  <a:srgbClr val="1A365D"/>
                </a:solidFill>
              </a:defRPr>
            </a:pPr>
            <a:r>
              <a:t>What do we</a:t>
            </a:r>
            <a:br/>
            <a:r>
              <a:t>believe in?</a:t>
            </a:r>
          </a:p>
          <a:p>
            <a:pPr>
              <a:spcBef>
                <a:spcPts val="1000"/>
              </a:spcBef>
              <a:defRPr sz="800" b="0">
                <a:solidFill>
                  <a:srgbClr val="2D3748"/>
                </a:solidFill>
              </a:defRPr>
            </a:pPr>
          </a:p>
          <a:p>
            <a:pPr algn="ctr">
              <a:spcBef>
                <a:spcPts val="600"/>
              </a:spcBef>
              <a:defRPr sz="1000" b="1">
                <a:solidFill>
                  <a:srgbClr val="718096"/>
                </a:solidFill>
              </a:defRPr>
            </a:pPr>
            <a:r>
              <a:t>Data source: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718096"/>
                </a:solidFill>
              </a:defRPr>
            </a:pPr>
            <a:r>
              <a:t>Survey of</a:t>
            </a:r>
            <a:br/>
            <a:r>
              <a:t>teachers + leaders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88920" y="1371600"/>
            <a:ext cx="2011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C2 Practice</a:t>
            </a:r>
          </a:p>
          <a:p>
            <a:pPr algn="ctr">
              <a:spcBef>
                <a:spcPts val="1400"/>
              </a:spcBef>
              <a:defRPr sz="1300" b="0">
                <a:solidFill>
                  <a:srgbClr val="1A365D"/>
                </a:solidFill>
              </a:defRPr>
            </a:pPr>
            <a:r>
              <a:t>How deeply are</a:t>
            </a:r>
            <a:br/>
            <a:r>
              <a:t>we doing it?</a:t>
            </a:r>
          </a:p>
          <a:p>
            <a:pPr>
              <a:spcBef>
                <a:spcPts val="1000"/>
              </a:spcBef>
              <a:defRPr sz="800" b="0">
                <a:solidFill>
                  <a:srgbClr val="2D3748"/>
                </a:solidFill>
              </a:defRPr>
            </a:pPr>
          </a:p>
          <a:p>
            <a:pPr algn="ctr">
              <a:spcBef>
                <a:spcPts val="600"/>
              </a:spcBef>
              <a:defRPr sz="1000" b="1">
                <a:solidFill>
                  <a:srgbClr val="718096"/>
                </a:solidFill>
              </a:defRPr>
            </a:pPr>
            <a:r>
              <a:t>Data source: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718096"/>
                </a:solidFill>
              </a:defRPr>
            </a:pPr>
            <a:r>
              <a:t>Same survey,</a:t>
            </a:r>
            <a:br/>
            <a:r>
              <a:t>depth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371600"/>
            <a:ext cx="201168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2011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C3 Capacity</a:t>
            </a:r>
          </a:p>
          <a:p>
            <a:pPr algn="ctr">
              <a:spcBef>
                <a:spcPts val="1400"/>
              </a:spcBef>
              <a:defRPr sz="1300" b="0">
                <a:solidFill>
                  <a:srgbClr val="1A365D"/>
                </a:solidFill>
              </a:defRPr>
            </a:pPr>
            <a:r>
              <a:t>Can we think</a:t>
            </a:r>
            <a:br/>
            <a:r>
              <a:t>at higher levels?</a:t>
            </a:r>
          </a:p>
          <a:p>
            <a:pPr>
              <a:spcBef>
                <a:spcPts val="1000"/>
              </a:spcBef>
              <a:defRPr sz="800" b="0">
                <a:solidFill>
                  <a:srgbClr val="2D3748"/>
                </a:solidFill>
              </a:defRPr>
            </a:pPr>
          </a:p>
          <a:p>
            <a:pPr algn="ctr">
              <a:spcBef>
                <a:spcPts val="600"/>
              </a:spcBef>
              <a:defRPr sz="1000" b="1">
                <a:solidFill>
                  <a:srgbClr val="718096"/>
                </a:solidFill>
              </a:defRPr>
            </a:pPr>
            <a:r>
              <a:t>Data source: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718096"/>
                </a:solidFill>
              </a:defRPr>
            </a:pPr>
            <a:r>
              <a:t>MathTangle</a:t>
            </a:r>
            <a:br/>
            <a:r>
              <a:t>adaptive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371600"/>
            <a:ext cx="201168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59" y="1371600"/>
            <a:ext cx="2011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C4 System</a:t>
            </a:r>
          </a:p>
          <a:p>
            <a:pPr algn="ctr">
              <a:spcBef>
                <a:spcPts val="1400"/>
              </a:spcBef>
              <a:defRPr sz="1300" b="0">
                <a:solidFill>
                  <a:srgbClr val="1A365D"/>
                </a:solidFill>
              </a:defRPr>
            </a:pPr>
            <a:r>
              <a:t>Does the system</a:t>
            </a:r>
            <a:br/>
            <a:r>
              <a:t>support us?</a:t>
            </a:r>
          </a:p>
          <a:p>
            <a:pPr>
              <a:spcBef>
                <a:spcPts val="1000"/>
              </a:spcBef>
              <a:defRPr sz="800" b="0">
                <a:solidFill>
                  <a:srgbClr val="2D3748"/>
                </a:solidFill>
              </a:defRPr>
            </a:pPr>
          </a:p>
          <a:p>
            <a:pPr algn="ctr">
              <a:spcBef>
                <a:spcPts val="600"/>
              </a:spcBef>
              <a:defRPr sz="1000" b="1">
                <a:solidFill>
                  <a:srgbClr val="718096"/>
                </a:solidFill>
              </a:defRPr>
            </a:pPr>
            <a:r>
              <a:t>Data source: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718096"/>
                </a:solidFill>
              </a:defRPr>
            </a:pPr>
            <a:r>
              <a:t>Agree/disagree</a:t>
            </a:r>
            <a:br/>
            <a:r>
              <a:t>survey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59" y="1371600"/>
            <a:ext cx="201168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1371600"/>
            <a:ext cx="2011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B7280"/>
                </a:solidFill>
              </a:defRPr>
            </a:pPr>
            <a:r>
              <a:t>C5 Ecosystem</a:t>
            </a:r>
          </a:p>
          <a:p>
            <a:pPr algn="ctr">
              <a:spcBef>
                <a:spcPts val="1400"/>
              </a:spcBef>
              <a:defRPr sz="1300" b="0">
                <a:solidFill>
                  <a:srgbClr val="1A365D"/>
                </a:solidFill>
              </a:defRPr>
            </a:pPr>
            <a:r>
              <a:t>Is everyone</a:t>
            </a:r>
            <a:br/>
            <a:r>
              <a:t>involved?</a:t>
            </a:r>
          </a:p>
          <a:p>
            <a:pPr>
              <a:spcBef>
                <a:spcPts val="1000"/>
              </a:spcBef>
              <a:defRPr sz="800" b="0">
                <a:solidFill>
                  <a:srgbClr val="2D3748"/>
                </a:solidFill>
              </a:defRPr>
            </a:pPr>
          </a:p>
          <a:p>
            <a:pPr algn="ctr">
              <a:spcBef>
                <a:spcPts val="600"/>
              </a:spcBef>
              <a:defRPr sz="1000" b="1">
                <a:solidFill>
                  <a:srgbClr val="718096"/>
                </a:solidFill>
              </a:defRPr>
            </a:pPr>
            <a:r>
              <a:t>Data source: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718096"/>
                </a:solidFill>
              </a:defRPr>
            </a:pPr>
            <a:r>
              <a:t>Coming soon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1371600"/>
            <a:ext cx="2011680" cy="635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76072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  Intent  +  Practice  +  Capacity  +  System  +  Ecosystem  =  SRI Total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Formula Summary — All Constructs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    C1 Intent (max 20)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Depth Score = avg response / 3 for each FP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Coverage = FPs above threshold / 5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Balance = 1 - spread / worst spread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Alignment = do teachers &amp; leaders agree?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C1 = 10 x Teacher(Cov x Bal x Align) + 10 x Leader(...)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3500" cy="2377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8B5CF6"/>
                </a:solidFill>
              </a:defRPr>
            </a:pPr>
            <a:r>
              <a:t>    C2 Practice (max 25)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Build 5x4 depth grid, remove impossible cells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Average depth per FP, normalise to 0-1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Depth Effectiveness = coverage x avg normalised depth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C2 = 25 x Depth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63500" cy="2377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t>    C3 Capacity (max 20)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4 dimensions: higher-order, harder problems, revision, consistency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Each 0-1. CPI = average of 4 dimensions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Branch CPI = average across all teachers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C3 = 20 x Branch CPI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63500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4864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t>    C4 System (max 20)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Agree/SA = 1, Disagree/SD = 0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Enablement = avg(A1, A2, A3, A4)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Routine = avg(B1, B2, B3, B4, B5)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</a:defRPr>
            </a:pPr>
            <a:r>
              <a:t>    C4 = 10 x Enablement + 10 x Routine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931920"/>
            <a:ext cx="635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7315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 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243584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1042416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  SRI gives each school a single 0-100 score built from 5 independent, clearly-defined areas.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29383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874519"/>
            <a:ext cx="1042416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  No single area dominates — a school must be strong across Intent, Practice, Capacity, and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15184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560320"/>
            <a:ext cx="1042416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  C1 (Intent) multiplies three factors together: miss one and the whole score drops. Both roles must be present and aligned.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00984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246120"/>
            <a:ext cx="1042416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  C2 (Practice) rewards depth over surface awareness — 'doing beats knowing'. Impossible-to-observe combinations are filtered out.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86784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931920"/>
            <a:ext cx="1042416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  C3 (Capacity) uses an adaptive test with 4 thinking dimensions. It's personalised — harder questions for stronger thinkers.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72584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617720"/>
            <a:ext cx="1042416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  C4 (System) simplifies a 4-point survey into Yes/No, then averages across teacher and leader areas.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358384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5303520"/>
            <a:ext cx="1042416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  Every formula step has a clear, plain-English interpretation. No black boxes.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6044184"/>
            <a:ext cx="384048" cy="38404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5989320"/>
            <a:ext cx="1042416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2D3748"/>
                </a:solidFill>
              </a:defRPr>
            </a:pPr>
            <a:r>
              <a:t>  With ~65/85 on average, DES branches show strong readiness with room for deeper practice and broader participation.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32720" cy="4114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1600"/>
              </a:spcBef>
              <a:defRPr sz="1400" b="0">
                <a:solidFill>
                  <a:srgbClr val="2D3748"/>
                </a:solidFill>
              </a:defRPr>
            </a:pPr>
          </a:p>
          <a:p>
            <a:pPr>
              <a:spcBef>
                <a:spcPts val="1200"/>
              </a:spcBef>
              <a:defRPr sz="2000" b="0">
                <a:solidFill>
                  <a:srgbClr val="93C5FD"/>
                </a:solidFill>
              </a:defRPr>
            </a:pPr>
            <a:r>
              <a:t>Every number in SRI has a clear, traceable meaning.</a:t>
            </a:r>
          </a:p>
          <a:p>
            <a:pPr>
              <a:spcBef>
                <a:spcPts val="400"/>
              </a:spcBef>
              <a:defRPr sz="2000" b="0">
                <a:solidFill>
                  <a:srgbClr val="93C5FD"/>
                </a:solidFill>
              </a:defRPr>
            </a:pPr>
            <a:r>
              <a:t>No black boxes. No hidden assumptions.</a:t>
            </a:r>
          </a:p>
          <a:p>
            <a:pPr>
              <a:spcBef>
                <a:spcPts val="2400"/>
              </a:spcBef>
              <a:defRPr sz="1400" b="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93C5FD"/>
                </a:solidFill>
              </a:defRPr>
            </a:pPr>
            <a:r>
              <a:t>Myelin NEP Readiness Pilot</a:t>
            </a:r>
          </a:p>
          <a:p>
            <a:pPr>
              <a:spcBef>
                <a:spcPts val="800"/>
              </a:spcBef>
              <a:defRPr sz="1400" b="0">
                <a:solidFill>
                  <a:srgbClr val="93C5FD"/>
                </a:solidFill>
              </a:defRPr>
            </a:pPr>
            <a:r>
              <a:t>Deccan Education Society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