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32720" cy="4114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Functional Steps</a:t>
            </a:r>
          </a:p>
          <a:p>
            <a:pPr>
              <a:spcBef>
                <a:spcPts val="800"/>
              </a:spcBef>
              <a:defRPr sz="2800" b="0">
                <a:solidFill>
                  <a:srgbClr val="FFFFFF"/>
                </a:solidFill>
              </a:defRPr>
            </a:pPr>
            <a:r>
              <a:t>User Task Mapping &amp; Daily Logging</a:t>
            </a:r>
          </a:p>
          <a:p>
            <a:pPr>
              <a:spcBef>
                <a:spcPts val="2000"/>
              </a:spcBef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1600"/>
              </a:spcBef>
              <a:defRPr sz="1800" b="0">
                <a:solidFill>
                  <a:srgbClr val="93C5FD"/>
                </a:solidFill>
              </a:defRPr>
            </a:pPr>
            <a:r>
              <a:t>Stage 5 — Micro-Intervention Practice</a:t>
            </a:r>
          </a:p>
          <a:p>
            <a:pPr>
              <a:spcBef>
                <a:spcPts val="800"/>
              </a:spcBef>
              <a:defRPr sz="1400" b="0">
                <a:solidFill>
                  <a:srgbClr val="93C5FD"/>
                </a:solidFill>
              </a:defRPr>
            </a:pPr>
            <a:r>
              <a:t>Myelin NEP Readiness Pilot  |  Deccan Education Society</a:t>
            </a:r>
          </a:p>
          <a:p>
            <a:pPr>
              <a:spcBef>
                <a:spcPts val="800"/>
              </a:spcBef>
              <a:defRPr sz="1400" b="0">
                <a:solidFill>
                  <a:srgbClr val="93C5FD"/>
                </a:solidFill>
              </a:defRPr>
            </a:pPr>
            <a:r>
              <a:t>2026-02-18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Stage 5 enables teachers and school leaders to select daily micro-intervention tasks aligned to NEP 2020's Foundational Principles and track classroom practice through a 21-day daily logging mechanism.</a:t>
            </a:r>
          </a:p>
          <a:p>
            <a:pPr>
              <a:spcBef>
                <a:spcPts val="1200"/>
              </a:spcBef>
              <a:defRPr sz="1200" b="0">
                <a:solidFill>
                  <a:srgbClr val="718096"/>
                </a:solidFill>
              </a:defRPr>
            </a:pPr>
            <a:r>
              <a:t>User Roles: Teacher (~70%) and Leader (~30%)  |  Languages: English + Marathi  |  Duration: 21-day practice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12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Tasks Available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2011680" cy="50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256032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8A169"/>
                </a:solidFill>
              </a:defRPr>
            </a:pPr>
            <a:r>
              <a:t>5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Foundational</a:t>
            </a:r>
            <a:br/>
            <a:r>
              <a:t>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560320"/>
            <a:ext cx="2011680" cy="5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256032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69E2E"/>
                </a:solidFill>
              </a:defRPr>
            </a:pPr>
            <a:r>
              <a:t>21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Day Practice</a:t>
            </a:r>
            <a:br/>
            <a:r>
              <a:t>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560320"/>
            <a:ext cx="2011680" cy="508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256032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2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Languages</a:t>
            </a:r>
            <a:br/>
            <a:r>
              <a:t>(EN + MR)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560320"/>
            <a:ext cx="2011680" cy="50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256032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2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Roles</a:t>
            </a:r>
            <a:br/>
            <a:r>
              <a:t>(Teacher + Leader)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560320"/>
            <a:ext cx="2011680" cy="50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Phase 1: Task Mapping</a:t>
            </a:r>
          </a:p>
          <a:p>
            <a:pPr algn="ctr">
              <a:spcBef>
                <a:spcPts val="1000"/>
              </a:spcBef>
              <a:defRPr sz="1200" b="0">
                <a:solidFill>
                  <a:srgbClr val="718096"/>
                </a:solidFill>
              </a:defRPr>
            </a:pPr>
            <a:r>
              <a:t>User selects 3-12 tasks</a:t>
            </a:r>
            <a:br/>
            <a:r>
              <a:t>from the task library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34747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4389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Phase 2: Daily Logging</a:t>
            </a:r>
          </a:p>
          <a:p>
            <a:pPr algn="ctr">
              <a:spcBef>
                <a:spcPts val="1000"/>
              </a:spcBef>
              <a:defRPr sz="1200" b="0">
                <a:solidFill>
                  <a:srgbClr val="718096"/>
                </a:solidFill>
              </a:defRPr>
            </a:pPr>
            <a:r>
              <a:t>Daily check-in for 21 days</a:t>
            </a:r>
            <a:br/>
            <a:r>
              <a:t>Mark practiced tasks + reflect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389120"/>
            <a:ext cx="3474720" cy="5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4389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Phase 3: Progress Tracking</a:t>
            </a:r>
          </a:p>
          <a:p>
            <a:pPr algn="ctr">
              <a:spcBef>
                <a:spcPts val="1000"/>
              </a:spcBef>
              <a:defRPr sz="1200" b="0">
                <a:solidFill>
                  <a:srgbClr val="718096"/>
                </a:solidFill>
              </a:defRPr>
            </a:pPr>
            <a:r>
              <a:t>Dashboard shows engagement,</a:t>
            </a:r>
            <a:br/>
            <a:r>
              <a:t>completion, and 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389120"/>
            <a:ext cx="34747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NEP 2020 Foundational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366F1"/>
                </a:solidFill>
              </a:defRPr>
            </a:pPr>
            <a:r>
              <a:t>FP-1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1A365D"/>
                </a:solidFill>
              </a:defRPr>
            </a:pPr>
            <a:r>
              <a:t>Every Child</a:t>
            </a:r>
            <a:br/>
            <a:r>
              <a:t>is Unique</a:t>
            </a:r>
          </a:p>
          <a:p>
            <a:pPr algn="ctr">
              <a:spcBef>
                <a:spcPts val="1400"/>
              </a:spcBef>
              <a:defRPr sz="1100" b="0">
                <a:solidFill>
                  <a:srgbClr val="718096"/>
                </a:solidFill>
              </a:defRPr>
            </a:pPr>
            <a:r>
              <a:t>Recognizing individual</a:t>
            </a:r>
            <a:br/>
            <a:r>
              <a:t>differences, inclusive</a:t>
            </a:r>
            <a:br/>
            <a:r>
              <a:t>observation</a:t>
            </a:r>
          </a:p>
          <a:p>
            <a:pPr algn="ctr">
              <a:spcBef>
                <a:spcPts val="1600"/>
              </a:spcBef>
              <a:defRPr sz="1000" b="1">
                <a:solidFill>
                  <a:srgbClr val="1A365D"/>
                </a:solidFill>
              </a:defRPr>
            </a:pPr>
            <a:r>
              <a:t>Tasks: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366F1"/>
                </a:solidFill>
              </a:defRPr>
            </a:pPr>
            <a:r>
              <a:t>T01, T02, T11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C4899"/>
                </a:solidFill>
              </a:defRPr>
            </a:pPr>
            <a:r>
              <a:t>FP-2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1A365D"/>
                </a:solidFill>
              </a:defRPr>
            </a:pPr>
            <a:r>
              <a:t>Holistic &amp;</a:t>
            </a:r>
            <a:br/>
            <a:r>
              <a:t>Experiential Learning</a:t>
            </a:r>
          </a:p>
          <a:p>
            <a:pPr algn="ctr">
              <a:spcBef>
                <a:spcPts val="1400"/>
              </a:spcBef>
              <a:defRPr sz="1100" b="0">
                <a:solidFill>
                  <a:srgbClr val="718096"/>
                </a:solidFill>
              </a:defRPr>
            </a:pPr>
            <a:r>
              <a:t>Learning by doing,</a:t>
            </a:r>
            <a:br/>
            <a:r>
              <a:t>connecting to</a:t>
            </a:r>
            <a:br/>
            <a:r>
              <a:t>real life</a:t>
            </a:r>
          </a:p>
          <a:p>
            <a:pPr algn="ctr">
              <a:spcBef>
                <a:spcPts val="1600"/>
              </a:spcBef>
              <a:defRPr sz="1000" b="1">
                <a:solidFill>
                  <a:srgbClr val="1A365D"/>
                </a:solidFill>
              </a:defRPr>
            </a:pPr>
            <a:r>
              <a:t>Tasks: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EC4899"/>
                </a:solidFill>
              </a:defRPr>
            </a:pPr>
            <a:r>
              <a:t>T03, T04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80160"/>
            <a:ext cx="2011680" cy="6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128016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FP-3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1A365D"/>
                </a:solidFill>
              </a:defRPr>
            </a:pPr>
            <a:r>
              <a:t>Teacher as Reflective</a:t>
            </a:r>
            <a:br/>
            <a:r>
              <a:t>Practitioner</a:t>
            </a:r>
          </a:p>
          <a:p>
            <a:pPr algn="ctr">
              <a:spcBef>
                <a:spcPts val="1400"/>
              </a:spcBef>
              <a:defRPr sz="1100" b="0">
                <a:solidFill>
                  <a:srgbClr val="718096"/>
                </a:solidFill>
              </a:defRPr>
            </a:pPr>
            <a:r>
              <a:t>Self-reflection,</a:t>
            </a:r>
            <a:br/>
            <a:r>
              <a:t>continuous</a:t>
            </a:r>
            <a:br/>
            <a:r>
              <a:t>improvement</a:t>
            </a:r>
          </a:p>
          <a:p>
            <a:pPr algn="ctr">
              <a:spcBef>
                <a:spcPts val="1600"/>
              </a:spcBef>
              <a:defRPr sz="1000" b="1">
                <a:solidFill>
                  <a:srgbClr val="1A365D"/>
                </a:solidFill>
              </a:defRPr>
            </a:pPr>
            <a:r>
              <a:t>Tasks: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F59E0B"/>
                </a:solidFill>
              </a:defRPr>
            </a:pPr>
            <a:r>
              <a:t>T05, T06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28016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28016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FP-4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1A365D"/>
                </a:solidFill>
              </a:defRPr>
            </a:pPr>
            <a:r>
              <a:t>Assessment</a:t>
            </a:r>
            <a:br/>
            <a:r>
              <a:t>for Learning</a:t>
            </a:r>
          </a:p>
          <a:p>
            <a:pPr algn="ctr">
              <a:spcBef>
                <a:spcPts val="1400"/>
              </a:spcBef>
              <a:defRPr sz="1100" b="0">
                <a:solidFill>
                  <a:srgbClr val="718096"/>
                </a:solidFill>
              </a:defRPr>
            </a:pPr>
            <a:r>
              <a:t>Formative assessment,</a:t>
            </a:r>
            <a:br/>
            <a:r>
              <a:t>understanding</a:t>
            </a:r>
            <a:br/>
            <a:r>
              <a:t>over marks</a:t>
            </a:r>
          </a:p>
          <a:p>
            <a:pPr algn="ctr">
              <a:spcBef>
                <a:spcPts val="1600"/>
              </a:spcBef>
              <a:defRPr sz="1000" b="1">
                <a:solidFill>
                  <a:srgbClr val="1A365D"/>
                </a:solidFill>
              </a:defRPr>
            </a:pPr>
            <a:r>
              <a:t>Tasks: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10B981"/>
                </a:solidFill>
              </a:defRPr>
            </a:pPr>
            <a:r>
              <a:t>T07, T08, T12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280160"/>
            <a:ext cx="201168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128016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FP-5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1A365D"/>
                </a:solidFill>
              </a:defRPr>
            </a:pPr>
            <a:r>
              <a:t>Collaboration</a:t>
            </a:r>
            <a:br/>
            <a:r>
              <a:t>&amp; Community</a:t>
            </a:r>
          </a:p>
          <a:p>
            <a:pPr algn="ctr">
              <a:spcBef>
                <a:spcPts val="1400"/>
              </a:spcBef>
              <a:defRPr sz="1100" b="0">
                <a:solidFill>
                  <a:srgbClr val="718096"/>
                </a:solidFill>
              </a:defRPr>
            </a:pPr>
            <a:r>
              <a:t>Teacher-parent-</a:t>
            </a:r>
            <a:br/>
            <a:r>
              <a:t>community</a:t>
            </a:r>
            <a:br/>
            <a:r>
              <a:t>partnership</a:t>
            </a:r>
          </a:p>
          <a:p>
            <a:pPr algn="ctr">
              <a:spcBef>
                <a:spcPts val="1600"/>
              </a:spcBef>
              <a:defRPr sz="1000" b="1">
                <a:solidFill>
                  <a:srgbClr val="1A365D"/>
                </a:solidFill>
              </a:defRPr>
            </a:pPr>
            <a:r>
              <a:t>Tasks: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3B82F6"/>
                </a:solidFill>
              </a:defRPr>
            </a:pPr>
            <a:r>
              <a:t>T09, T10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280160"/>
            <a:ext cx="201168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The 12 Micro-Intervention Tasks (1-6)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    T01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Notice One Learner        FP-1  |  D1-&gt;D2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Quietly watch one student - notice how they sit, listen, respond, or 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48839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    T02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One Adjustment        FP-1  |  D2-&gt;D3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Change one small thing for a student - speak slower, simpler example, or pair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39"/>
            <a:ext cx="635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EC4899"/>
                </a:solidFill>
              </a:defRPr>
            </a:pPr>
            <a:r>
              <a:t>    T03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Change One Example        FP-2  |  D1-&gt;D2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Replace textbook example with something from daily life students know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6350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EC4899"/>
                </a:solidFill>
              </a:defRPr>
            </a:pPr>
            <a:r>
              <a:t>    T04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Ask a Why/How        FP-2  |  D2-&gt;D3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Ask at least one 'Why?' or 'How did you get this answer?'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6350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754879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    T05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End-of-Class Reflection        FP-3  |  D1-&gt;D2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After class, think: What went well? What didn't work?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79"/>
            <a:ext cx="635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62356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    T06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Try One Small Change        FP-3  |  D2-&gt;D3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In next class, change one thing based on what you noticed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635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The 12 Micro-Intervention Tasks (7-12)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    T07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Quick Check        FP-4  |  D1-&gt;D2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Ask 2-3 students to explain the answer in their own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48839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    T08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Spot One Pattern        FP-4  |  D2-&gt;D3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Notice if many students make the same mistake or confusion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39"/>
            <a:ext cx="635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    T09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Teacher Touchpoint        FP-5  |  D1-&gt;D2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Tell another teacher about one thing that happened in your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635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    T10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Parent Signal        FP-5  |  D1-&gt;D2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Share one good learning observation about a child with a parent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635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754879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    T11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Student Voice        FP-1  |  Cross-FP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Ask one student: 'What helped you learn today?'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79"/>
            <a:ext cx="635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62356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    T12</a:t>
            </a:r>
          </a:p>
          <a:p>
            <a:pPr>
              <a:spcBef>
                <a:spcPts val="200"/>
              </a:spcBef>
              <a:defRPr sz="1200" b="0">
                <a:solidFill>
                  <a:srgbClr val="1A365D"/>
                </a:solidFill>
              </a:defRPr>
            </a:pPr>
            <a:r>
              <a:t>    Pause &amp; Name        FP-4  |  Cross-FP</a:t>
            </a:r>
          </a:p>
          <a:p>
            <a:pPr>
              <a:spcBef>
                <a:spcPts val="200"/>
              </a:spcBef>
              <a:defRPr sz="1100" b="0">
                <a:solidFill>
                  <a:srgbClr val="718096"/>
                </a:solidFill>
              </a:defRPr>
            </a:pPr>
            <a:r>
              <a:t>    Pause once and name what students are doing well in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635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Depth Levels Explained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B6CB0"/>
                </a:solidFill>
              </a:defRPr>
            </a:pPr>
            <a:r>
              <a:t>     D1 -&gt; D2</a:t>
            </a:r>
          </a:p>
          <a:p>
            <a:pPr>
              <a:spcBef>
                <a:spcPts val="600"/>
              </a:spcBef>
              <a:defRPr sz="1400" b="1">
                <a:solidFill>
                  <a:srgbClr val="1A365D"/>
                </a:solidFill>
              </a:defRPr>
            </a:pPr>
            <a:r>
              <a:t>     Procedural -&gt; Responsive</a:t>
            </a:r>
          </a:p>
          <a:p>
            <a:pPr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     Entry-level: start by noticing patterns, then respond to what you observe.</a:t>
            </a:r>
          </a:p>
          <a:p>
            <a:pPr>
              <a:spcBef>
                <a:spcPts val="600"/>
              </a:spcBef>
              <a:defRPr sz="1100" b="1">
                <a:solidFill>
                  <a:srgbClr val="2B6CB0"/>
                </a:solidFill>
              </a:defRPr>
            </a:pPr>
            <a:r>
              <a:t>     60% of selections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6200" cy="13716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11247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38A169"/>
                </a:solidFill>
              </a:defRPr>
            </a:pPr>
            <a:r>
              <a:t>     D2 -&gt; D3</a:t>
            </a:r>
          </a:p>
          <a:p>
            <a:pPr>
              <a:spcBef>
                <a:spcPts val="600"/>
              </a:spcBef>
              <a:defRPr sz="1400" b="1">
                <a:solidFill>
                  <a:srgbClr val="1A365D"/>
                </a:solidFill>
              </a:defRPr>
            </a:pPr>
            <a:r>
              <a:t>     Responsive -&gt; Diagnostic</a:t>
            </a:r>
          </a:p>
          <a:p>
            <a:pPr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     Growth: adjust responses based on deeper evidence and diagnosis.</a:t>
            </a:r>
          </a:p>
          <a:p>
            <a:pPr>
              <a:spcBef>
                <a:spcPts val="600"/>
              </a:spcBef>
              <a:defRPr sz="1100" b="1">
                <a:solidFill>
                  <a:srgbClr val="38A169"/>
                </a:solidFill>
              </a:defRPr>
            </a:pPr>
            <a:r>
              <a:t>     30% of selections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76200" cy="13716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11247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D69E2E"/>
                </a:solidFill>
              </a:defRPr>
            </a:pPr>
            <a:r>
              <a:t>     Cross-FP</a:t>
            </a:r>
          </a:p>
          <a:p>
            <a:pPr>
              <a:spcBef>
                <a:spcPts val="600"/>
              </a:spcBef>
              <a:defRPr sz="1400" b="1">
                <a:solidFill>
                  <a:srgbClr val="1A365D"/>
                </a:solidFill>
              </a:defRPr>
            </a:pPr>
            <a:r>
              <a:t>     Multi-Principle Integration</a:t>
            </a:r>
          </a:p>
          <a:p>
            <a:pPr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     Advanced: tasks that bridge multiple foundational principles.</a:t>
            </a:r>
          </a:p>
          <a:p>
            <a:pPr>
              <a:spcBef>
                <a:spcPts val="600"/>
              </a:spcBef>
              <a:defRPr sz="1100" b="1">
                <a:solidFill>
                  <a:srgbClr val="D69E2E"/>
                </a:solidFill>
              </a:defRPr>
            </a:pPr>
            <a:r>
              <a:t>     10% of selections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63440"/>
            <a:ext cx="76200" cy="13716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Phase 1: Task Mapping (Enrollment)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280160"/>
            <a:ext cx="10424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logs in and navigates to the Micro-Intervention module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057400"/>
            <a:ext cx="10424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System displays all 12 tasks organized by FP — each with name, description, FP tag, depth tag. Bilingual toggle: EN | Marathi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26079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834639"/>
            <a:ext cx="10424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selects 3-12 tasks. Selection highlights FP coverage and depth distribution visually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03319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611879"/>
            <a:ext cx="10424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confirms selection -&gt; "Start My Practice"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389120"/>
            <a:ext cx="10424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System saves to UserTaskMapping: userTempId, SelectedTasks[], createdAt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5166360"/>
            <a:ext cx="10424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sees confirmation screen with selected tasks and practice start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F0F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38A169"/>
                </a:solidFill>
              </a:defRPr>
            </a:pPr>
            <a:r>
              <a:t>  Business Rules: Min 3 tasks, max 12. User can re-select anytime. Same task library for Teachers and Leaders.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Phase 2: Daily Logging (21-Day Practice Window)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280160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opens "Daily Practice Log" screen. Current date shown prominently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965960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System displays ONLY the user's selected tasks (not all 12). Each task as a card: checkbox + optional comment field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651760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checks off completed tasks: true (practiced) / false (not practiced)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337560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optionally adds a reflection comment (free text)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023360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System auto-saves on each interaction (no submit button)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709160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System creates UserDailyProgress record: UserTempId, SubmitDate, TasksProgress[{taskId, isChecked, comment}]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394960"/>
            <a:ext cx="1042416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User sees visual confirmation - checkmarks turn green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D69E2E"/>
                </a:solidFill>
              </a:defRPr>
            </a:pPr>
            <a:r>
              <a:t>  Business Rules: One log per user per day. All selected tasks appear. Comments optional. Append-only (no edits/deletes).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Phase 3: Progress Tracking (Dashboard)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280160"/>
            <a:ext cx="104241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User navigates to "My Progress" screen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194560"/>
            <a:ext cx="104241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System displays 21-day progress grid: Rows = tasks, Columns = dates. Cell states: Done | Done+comment | Not done | Future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108960"/>
            <a:ext cx="104241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System calculates per-user metrics: completion rate, consistency %, comment rate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023360"/>
            <a:ext cx="104241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Admin dashboard aggregates across all users: KPIs, charts (daily timeline, task completion, FP radar), filterable user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  Key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3200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  Completion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5303520"/>
            <a:ext cx="5486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totalChecked / (totalChecked + totalUnchecked) x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5303520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B6CB0"/>
                </a:solidFill>
              </a:defRPr>
            </a:pPr>
            <a:r>
              <a:t>Per user + global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760720"/>
            <a:ext cx="3200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  Consistency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5760720"/>
            <a:ext cx="5486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daysLogged / min(daysSinceMapping, 21) x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5760720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B6CB0"/>
                </a:solidFill>
              </a:defRPr>
            </a:pPr>
            <a:r>
              <a:t>Per 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217920"/>
            <a:ext cx="3200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  Comment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6217920"/>
            <a:ext cx="5486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totalComments / totalLogEntries x 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6217920"/>
            <a:ext cx="2377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B6CB0"/>
                </a:solidFill>
              </a:defRPr>
            </a:pPr>
            <a:r>
              <a:t>Per user + global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End-to-End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118872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LOGIN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User</a:t>
            </a:r>
            <a:br/>
            <a:r>
              <a:t>authenticates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34640" y="1737360"/>
            <a:ext cx="548640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286000" cy="118872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SELECT TASKS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Choose</a:t>
            </a:r>
            <a:br/>
            <a:r>
              <a:t>3-12 tasks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2160" y="1737360"/>
            <a:ext cx="548640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2286000" cy="118872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DAILY LOG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Check off</a:t>
            </a:r>
            <a:br/>
            <a:r>
              <a:t>+ reflect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69680" y="1737360"/>
            <a:ext cx="548640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59" y="1371600"/>
            <a:ext cx="2286000" cy="118872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DASHBOARD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View</a:t>
            </a:r>
            <a:br/>
            <a:r>
              <a:t>progress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69280" y="2743200"/>
            <a:ext cx="457200" cy="548640"/>
          </a:xfrm>
          <a:prstGeom prst="down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3474720" cy="164592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UserTaskMapping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718096"/>
                </a:solidFill>
              </a:defRPr>
            </a:pPr>
            <a:r>
              <a:t>userTempId</a:t>
            </a:r>
            <a:br/>
            <a:r>
              <a:t>SelectedTasks[]</a:t>
            </a:r>
            <a:br/>
            <a:r>
              <a:t>createdAt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60" y="4114800"/>
            <a:ext cx="320040" cy="274320"/>
          </a:xfrm>
          <a:prstGeom prst="rightArrow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566160"/>
            <a:ext cx="3474720" cy="164592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UserDailyProgress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718096"/>
                </a:solidFill>
              </a:defRPr>
            </a:pPr>
            <a:r>
              <a:t>UserTempId, SubmitDate</a:t>
            </a:r>
            <a:br/>
            <a:r>
              <a:t>TasksProgress[]</a:t>
            </a:r>
            <a:br/>
            <a:r>
              <a:t>{taskId, isChecked, comment}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55280" y="4114800"/>
            <a:ext cx="320040" cy="274320"/>
          </a:xfrm>
          <a:prstGeom prst="rightArrow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3566160"/>
            <a:ext cx="3474720" cy="16459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Computed Metrics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718096"/>
                </a:solidFill>
              </a:defRPr>
            </a:pPr>
            <a:r>
              <a:t>Completion Rate</a:t>
            </a:r>
            <a:br/>
            <a:r>
              <a:t>Consistency %</a:t>
            </a:r>
            <a:br/>
            <a:r>
              <a:t>Comment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Typical User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4747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Scenario A: Engaged Teacher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38A169"/>
                </a:solidFill>
              </a:defRPr>
            </a:pPr>
            <a:r>
              <a:t>Teacher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D3748"/>
                </a:solidFill>
              </a:defRPr>
            </a:pPr>
            <a:r>
              <a:t>Feb 3: Maps 5 tasks (one per FP, D1-&gt;D2)</a:t>
            </a:r>
            <a:br/>
            <a:r>
              <a:t>Feb 4-17: Logs 11 of 14 days, 4 comments</a:t>
            </a:r>
          </a:p>
          <a:p>
            <a:pPr>
              <a:spcBef>
                <a:spcPts val="14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1000"/>
              </a:spcBef>
              <a:defRPr sz="1100" b="1">
                <a:solidFill>
                  <a:srgbClr val="38A169"/>
                </a:solidFill>
              </a:defRPr>
            </a:pPr>
            <a:r>
              <a:t>Consistency: 79%  |  Completion: 85%  |  Comments: 7%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Scenario B: Selective Leader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D69E2E"/>
                </a:solidFill>
              </a:defRPr>
            </a:pPr>
            <a:r>
              <a:t>Leader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D3748"/>
                </a:solidFill>
              </a:defRPr>
            </a:pPr>
            <a:r>
              <a:t>Feb 4: Maps 3 growth tasks (D2-&gt;D3)</a:t>
            </a:r>
            <a:br/>
            <a:r>
              <a:t>Feb 5-17: Logs 6 of 13 days</a:t>
            </a:r>
          </a:p>
          <a:p>
            <a:pPr>
              <a:spcBef>
                <a:spcPts val="14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1000"/>
              </a:spcBef>
              <a:defRPr sz="1100" b="1">
                <a:solidFill>
                  <a:srgbClr val="D69E2E"/>
                </a:solidFill>
              </a:defRPr>
            </a:pPr>
            <a:r>
              <a:t>Consistency: 46%  |  Completion: 72%  |  Comments: 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280160"/>
            <a:ext cx="3474720" cy="635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280160"/>
            <a:ext cx="34747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Scenario C: Drop-Off Teacher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E53E3E"/>
                </a:solidFill>
              </a:defRPr>
            </a:pPr>
            <a:r>
              <a:t>Teacher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D3748"/>
                </a:solidFill>
              </a:defRPr>
            </a:pPr>
            <a:r>
              <a:t>Feb 3: Maps 7 tasks across all FPs</a:t>
            </a:r>
            <a:br/>
            <a:r>
              <a:t>Feb 5-7: Logs 3 days, then stops</a:t>
            </a:r>
          </a:p>
          <a:p>
            <a:pPr>
              <a:spcBef>
                <a:spcPts val="14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1000"/>
              </a:spcBef>
              <a:defRPr sz="1100" b="1">
                <a:solidFill>
                  <a:srgbClr val="E53E3E"/>
                </a:solidFill>
              </a:defRPr>
            </a:pPr>
            <a:r>
              <a:t>Consistency: 20%  |  Completion: 95%  |  Comments: 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280160"/>
            <a:ext cx="347472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Design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  Trust-Based Reflection</a:t>
            </a:r>
          </a:p>
          <a:p>
            <a:pPr>
              <a:spcBef>
                <a:spcPts val="800"/>
              </a:spcBef>
              <a:defRPr sz="1200" b="0">
                <a:solidFill>
                  <a:srgbClr val="718096"/>
                </a:solidFill>
              </a:defRPr>
            </a:pPr>
            <a:r>
              <a:t>    Self-reported check-ins, not surveillance.</a:t>
            </a:r>
            <a:br/>
            <a:r>
              <a:t>No external validation required.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035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  Minimal Friction</a:t>
            </a:r>
          </a:p>
          <a:p>
            <a:pPr>
              <a:spcBef>
                <a:spcPts val="800"/>
              </a:spcBef>
              <a:defRPr sz="1200" b="0">
                <a:solidFill>
                  <a:srgbClr val="718096"/>
                </a:solidFill>
              </a:defRPr>
            </a:pPr>
            <a:r>
              <a:t>    Auto-save on interaction. No submit button.</a:t>
            </a:r>
            <a:br/>
            <a:r>
              <a:t>Card-based mobile UI.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63500" cy="14630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3035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  Bilingual From Day 1</a:t>
            </a:r>
          </a:p>
          <a:p>
            <a:pPr>
              <a:spcBef>
                <a:spcPts val="800"/>
              </a:spcBef>
              <a:defRPr sz="1200" b="0">
                <a:solidFill>
                  <a:srgbClr val="718096"/>
                </a:solidFill>
              </a:defRPr>
            </a:pPr>
            <a:r>
              <a:t>    English + Marathi toggle on all screens.</a:t>
            </a:r>
            <a:br/>
            <a:r>
              <a:t>Tasks, descriptions, UI labels.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635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  Mobile-First</a:t>
            </a:r>
          </a:p>
          <a:p>
            <a:pPr>
              <a:spcBef>
                <a:spcPts val="800"/>
              </a:spcBef>
              <a:defRPr sz="1200" b="0">
                <a:solidFill>
                  <a:srgbClr val="718096"/>
                </a:solidFill>
              </a:defRPr>
            </a:pPr>
            <a:r>
              <a:t>    Cards on mobile, tables on desktop.</a:t>
            </a:r>
            <a:br/>
            <a:r>
              <a:t>Responsive layout throughout.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017520"/>
            <a:ext cx="6350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754879"/>
            <a:ext cx="53035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  Append-Only Data</a:t>
            </a:r>
          </a:p>
          <a:p>
            <a:pPr>
              <a:spcBef>
                <a:spcPts val="800"/>
              </a:spcBef>
              <a:defRPr sz="1200" b="0">
                <a:solidFill>
                  <a:srgbClr val="718096"/>
                </a:solidFill>
              </a:defRPr>
            </a:pPr>
            <a:r>
              <a:t>    No edits or deletes.</a:t>
            </a:r>
            <a:br/>
            <a:r>
              <a:t>All log entries are permanent and immutable.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79"/>
            <a:ext cx="63500" cy="14630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79"/>
            <a:ext cx="53035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  Role-Agnostic Tasks</a:t>
            </a:r>
          </a:p>
          <a:p>
            <a:pPr>
              <a:spcBef>
                <a:spcPts val="800"/>
              </a:spcBef>
              <a:defRPr sz="1200" b="0">
                <a:solidFill>
                  <a:srgbClr val="718096"/>
                </a:solidFill>
              </a:defRPr>
            </a:pPr>
            <a:r>
              <a:t>    Same 12-task library for Teachers and Leaders.</a:t>
            </a:r>
            <a:br/>
            <a:r>
              <a:t>Context differs, tasks don't.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754879"/>
            <a:ext cx="63500" cy="1463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Current Production Statistics (2026-02-18)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6CB0"/>
                </a:solidFill>
              </a:defRPr>
            </a:pPr>
            <a:r>
              <a:t>124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718096"/>
                </a:solidFill>
              </a:defRPr>
            </a:pPr>
            <a:r>
              <a:t>Total Users</a:t>
            </a:r>
            <a:br/>
            <a:r>
              <a:t>(DES)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635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38A169"/>
                </a:solidFill>
              </a:defRPr>
            </a:pPr>
            <a:r>
              <a:t>119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718096"/>
                </a:solidFill>
              </a:defRPr>
            </a:pPr>
            <a:r>
              <a:t>Active</a:t>
            </a:r>
            <a:br/>
            <a:r>
              <a:t>(&gt;=1 Log)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E53E3E"/>
                </a:solidFill>
              </a:defRPr>
            </a:pPr>
            <a:r>
              <a:t>5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718096"/>
                </a:solidFill>
              </a:defRPr>
            </a:pPr>
            <a:r>
              <a:t>Zero-Log</a:t>
            </a:r>
            <a:br/>
            <a: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371600"/>
            <a:ext cx="347472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D69E2E"/>
                </a:solidFill>
              </a:defRPr>
            </a:pPr>
            <a:r>
              <a:t>5.7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718096"/>
                </a:solidFill>
              </a:defRPr>
            </a:pPr>
            <a:r>
              <a:t>Avg Days</a:t>
            </a:r>
            <a:br/>
            <a:r>
              <a:t>Logged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3474720" cy="635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39319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38A169"/>
                </a:solidFill>
              </a:defRPr>
            </a:pPr>
            <a:r>
              <a:t>~88%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718096"/>
                </a:solidFill>
              </a:defRPr>
            </a:pPr>
            <a:r>
              <a:t>Completion</a:t>
            </a:r>
            <a:br/>
            <a:r>
              <a:t>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93192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39319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6CB0"/>
                </a:solidFill>
              </a:defRPr>
            </a:pPr>
            <a:r>
              <a:t>2,994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718096"/>
                </a:solidFill>
              </a:defRPr>
            </a:pPr>
            <a:r>
              <a:t>Total Log</a:t>
            </a:r>
            <a:br/>
            <a:r>
              <a:t>Entries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931920"/>
            <a:ext cx="3474720" cy="635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