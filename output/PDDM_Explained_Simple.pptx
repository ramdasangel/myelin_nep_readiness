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PDDM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</a:defRPr>
            </a:pPr>
            <a:r>
              <a:t>Practice Depth Determination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How we determine WHERE a teacher's attention goes (FP)</a:t>
            </a:r>
            <a:br/>
            <a:r>
              <a:t>and HOW DEEP their practice is (D1-D4)</a:t>
            </a:r>
            <a:br/>
            <a:r>
              <a:t>from their survey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3C5FD"/>
                </a:solidFill>
              </a:defRPr>
            </a:pPr>
            <a:r>
              <a:t>Instruments: 1234 (Teacher EN) | 103 (Teacher MR) | 7890 (Leader EN) | 104 (Leader MR)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7D8B"/>
                </a:solidFill>
              </a:defRPr>
            </a:pPr>
            <a:r>
              <a:t>Project Kshitij | Myelin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Every question in the orientation survey has TWO hidden tags on each answer option: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1645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Tag 1: FP (Focus Point)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  <a:r>
              <a:t>Which NEP philosophy does</a:t>
            </a:r>
          </a:p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  <a:r>
              <a:t>this answer align with?</a:t>
            </a:r>
          </a:p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  <a:r>
              <a:t>FP1, FP2, FP3, FP4, or FP5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3200400" cy="1645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Tag 2: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377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  <a:r>
              <a:t>How deep is this practice?</a:t>
            </a:r>
          </a:p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  <a:r>
              <a:t>D1 (surface) → D2 (responsive)</a:t>
            </a:r>
          </a:p>
          <a:p>
            <a:pPr>
              <a:spcAft>
                <a:spcPts val="300"/>
              </a:spcAft>
              <a:defRPr sz="1200">
                <a:solidFill>
                  <a:srgbClr val="6B7280"/>
                </a:solidFill>
              </a:defRPr>
            </a:pPr>
            <a:r>
              <a:t>→ D3 (diagnostic) → D4 (adaptive)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7315200" cy="146304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From responses, we derive per teacher: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1. Dominant FP — which philosophy do they naturally lean towards?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2. Average Depth — how deep is their practice across all FPs?</a:t>
            </a:r>
          </a:p>
          <a:p>
            <a:pPr>
              <a:spcAft>
                <a:spcPts val="300"/>
              </a:spcAft>
              <a:defRPr sz="1300">
                <a:solidFill>
                  <a:srgbClr val="1A1A2E"/>
                </a:solidFill>
              </a:defRPr>
            </a:pPr>
            <a:r>
              <a:t>3. Per-FP Depth — how deep is practice specifically for FP1, FP2, etc.?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035040"/>
            <a:ext cx="8229600" cy="548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0807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</a:defRPr>
            </a:pPr>
            <a:r>
              <a:t>The teacher doesn't know about FP or Depth tags. They just pick the answer that feels right.</a:t>
            </a:r>
            <a:br/>
            <a:r>
              <a:t>The tags are invisible — built into the instrument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5 Foundational Philosophies (FPs)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FP = where a teacher's attention naturally goes first. It is INTENT, not skill.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8229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73152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Each Child is Unique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10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Notices learner differences, adapts to individuals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2563EB"/>
                </a:solidFill>
              </a:defRPr>
            </a:pPr>
            <a:r>
              <a:t>Q1-Q3 in orientation survey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8229600" cy="8229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73152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95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Holistic &amp; Experiential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24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Connects learning to real life, goes beyond 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16A34A"/>
                </a:solidFill>
              </a:defRPr>
            </a:pPr>
            <a:r>
              <a:t>Q7-Q9 in orientation survey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8229600" cy="8229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73152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Reflective Practitioner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39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Reflects on practice, seeks feedback, 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C3AED"/>
                </a:solidFill>
              </a:defRPr>
            </a:pPr>
            <a:r>
              <a:t>Q10-Q12 in orientation survey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06240"/>
            <a:ext cx="8229600" cy="8229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206240"/>
            <a:ext cx="73152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245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Assessment for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553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Uses assessment to diagnose, not just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97706"/>
                </a:solidFill>
              </a:defRPr>
            </a:pPr>
            <a:r>
              <a:t>Q4-Q6 in orientation survey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8229600" cy="8229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5120640"/>
            <a:ext cx="73152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03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FP5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389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Collaboration &amp; Community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Works with parents, peers, community as 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349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D9488"/>
                </a:solidFill>
              </a:defRPr>
            </a:pPr>
            <a:r>
              <a:t>Q13-Q15 in orientation survey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4 Practice Depth Levels (D1-D4)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Depth = how far intent translates into classroom action. Not good/bad — it's a progression.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229600" cy="10515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731520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Procedural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</a:defRPr>
            </a:pPr>
            <a:r>
              <a:t>Follows standard procedure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</a:defRPr>
            </a:pPr>
            <a:r>
              <a:t>"I teach the chapter as planned"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1284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Rule-based, default responses. Does what's expected.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8229600" cy="10515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731520" cy="10515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61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Responsive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61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</a:defRPr>
            </a:pPr>
            <a:r>
              <a:t>Adjusts based on the situation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089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</a:defRPr>
            </a:pPr>
            <a:r>
              <a:t>"I noticed students struggling, so I slowed down"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0156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Reacts to what happens, but doesn't investigate why.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8229600" cy="10515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73152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502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502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Uses evidence to understand 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976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</a:defRPr>
            </a:pPr>
            <a:r>
              <a:t>"I gave a quick check to find the exact misconception"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902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Investigates root causes. Uses data to decide next steps.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8229600" cy="10515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5120640"/>
            <a:ext cx="731520" cy="1051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949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389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Adaptive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Intentionally redesigns practice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864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</a:defRPr>
            </a:pPr>
            <a:r>
              <a:t>"I created a new activity based on what diagnostics showed"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79007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Creates new approaches. Practice evolves based on evidence.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309360"/>
            <a:ext cx="8229600" cy="3657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33679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97706"/>
                </a:solidFill>
              </a:defRPr>
            </a:pPr>
            <a:r>
              <a:t>D1 → D2 → D3 → D4 is a progression, not a judgement. Most teachers are at D1-D2. D3+ is the goal.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How It Works: One Question, Four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Example: Q1. "When two students learn at very different speeds, what do you usually do?"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4008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645920"/>
            <a:ext cx="384048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Answer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82296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59" y="16459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FP Tag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73152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59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2011680" cy="320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What It Reveals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64008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011680"/>
            <a:ext cx="38404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2057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Continue teaching at the same pace for everyone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011680"/>
            <a:ext cx="82296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03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FP2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011680"/>
            <a:ext cx="73152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011680"/>
            <a:ext cx="20116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057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Procedural — ignores difference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0320"/>
            <a:ext cx="64008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51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2560320"/>
            <a:ext cx="38404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26060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Give extra homework to the slower learner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2560320"/>
            <a:ext cx="82296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2651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560320"/>
            <a:ext cx="731520" cy="502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651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2560320"/>
            <a:ext cx="20116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26060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Notices difference but surface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108960"/>
            <a:ext cx="64008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2004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3108960"/>
            <a:ext cx="38404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31546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Provide varied support so both can progress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3108960"/>
            <a:ext cx="82296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200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3108960"/>
            <a:ext cx="73152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3200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3108960"/>
            <a:ext cx="20116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154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Diagnostic — intentionally adapts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657600"/>
            <a:ext cx="64008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3657600"/>
            <a:ext cx="38404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3703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Ask the faster learner to help the slower one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20640" y="3657600"/>
            <a:ext cx="822960" cy="5029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37490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FP5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3657600"/>
            <a:ext cx="731520" cy="5029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3657600"/>
            <a:ext cx="2011680" cy="502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3703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</a:defRPr>
            </a:pPr>
            <a:r>
              <a:t>Responsive — uses peer support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If this teacher picks option C: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4480560"/>
            <a:ext cx="8229600" cy="7315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52628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FP1 gets +1 vote (this teacher attends to learner uniqueness)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D3 gets +1 depth point (this teacher uses diagnostic-level practice)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This single answer adds evidence to both the FP and depth calculations.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394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3-Level Rubric (invisible to teacher):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760720"/>
            <a:ext cx="2560320" cy="82296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7881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Level 1: NEP-Aligned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062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D3 responses — diagnostic, intentional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0" y="5760720"/>
            <a:ext cx="2560320" cy="8229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57881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Level 2: Partially Aligned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6062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D2 responses — responsive, situational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0" y="5760720"/>
            <a:ext cx="2560320" cy="82296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40" y="57881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Level 3: Traditional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60624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</a:defRPr>
            </a:pPr>
            <a:r>
              <a:t>D1 responses — procedural,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How Dominant FP &amp; Depth Are Computed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 teacher answers ~20 questions. Each answer has an FP tag and a Depth tag.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25603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Step 1: Count FP Votes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Example teacher's 20 answers: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FP1 appeared 6 times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FP2 appeared 4 times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FP3 appeared 3 times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FP4 appeared 5 times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FP5 appeared 2 times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Dominant FP = FP1 (highest count)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This teacher's attention goes to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"Each Child is Unique"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4114800" cy="25603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</a:defRPr>
            </a:pPr>
            <a:r>
              <a:t>Step 2: Average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Same teacher's depth tags: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D1 appeared 8 times (score: 1 each)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D2 appeared 7 times (score: 2 each)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D3 appeared 5 times (score: 3 each)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D4 appeared 0 times (score: 4 each)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Average = (8×1 + 7×2 + 5×3) / 20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      = (8 + 14 + 15) / 20 = 1.85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Depth Band = D1-D2 (Low: &lt; 2.2)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297680"/>
            <a:ext cx="8595360" cy="11887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t>Step 3: Per-FP Depth (for SET analysis)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For each FP, what's the average depth of responses tagged with that FP?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FP1 depth = avg of depths when teacher chose FP1 answers → e.g., 2.3 (just above D2)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FP4 depth = avg of depths when teacher chose FP4 answers → e.g., 1.4 (solidly D1)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This tells SET: "This teacher INTENDS assessment (FP4) but only at procedural level (D1)."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669280"/>
            <a:ext cx="8595360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Per Teacher Output: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FDBFE"/>
                </a:solidFill>
              </a:defRPr>
            </a:pPr>
            <a:r>
              <a:t>Dominant FP: FP1  |  Average Depth: 1.85 (D1-D2)  |  FP1 Depth: 2.3  |  FP4 Depth: 1.4</a:t>
            </a:r>
          </a:p>
          <a:p>
            <a:pPr>
              <a:spcAft>
                <a:spcPts val="300"/>
              </a:spcAft>
              <a:defRPr sz="1100">
                <a:solidFill>
                  <a:srgbClr val="BFDBFE"/>
                </a:solidFill>
              </a:defRPr>
            </a:pPr>
            <a:r>
              <a:t>→ This feeds into SET1 (orientation × depth alignment) at school/cluster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Full Example: From Survey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Ms. Sandhya answers 15 orientation questions (setCode: 1234):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8595360" cy="1645920"/>
          </a:xfrm>
          <a:prstGeom prst="round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Q1: Varied support for both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17320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99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17320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3990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184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Q2: Observing classroom behaviour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18488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00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618488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600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819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Q3: Low-pressure activities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819656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1801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1819656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1801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0208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Q4: Quick informal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020824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200253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2020824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20025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2219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Q5: Diagnostic tasks for gaps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2221992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22037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2221992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220370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4231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Q6: Weekly informal checks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2423160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2404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2423160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4048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6243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Q7: Building competencies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2624328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26060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2624328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26060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8254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Q8: Real-life application tasks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2825496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28072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9080" y="2825496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28072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14173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Q9: Real-life problem solving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63840" y="1417320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0" y="1399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59" y="1417320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59" y="13990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16184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Q10: Last few months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1618488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0" y="16002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66759" y="1618488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59" y="1600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18196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Q11: Helps me improve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63840" y="1819656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18013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59" y="1819656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59" y="18013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20208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Q12: Proactively learn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63840" y="2020824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200253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66759" y="2020824"/>
            <a:ext cx="36576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59" y="20025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22219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Q13: Monthly updates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2221992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22037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66759" y="2221992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59" y="220370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24231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Q14: Strengths &amp; areas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63840" y="2423160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63840" y="24048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66759" y="2423160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59" y="24048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26243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1A2E"/>
                </a:solidFill>
              </a:defRPr>
            </a:pPr>
            <a:r>
              <a:t>Q15: Share activities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63840" y="2624328"/>
            <a:ext cx="457200" cy="182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0" y="26060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563EB"/>
                </a:solidFill>
              </a:defRPr>
            </a:pPr>
            <a:r>
              <a:t>FP5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366759" y="2624328"/>
            <a:ext cx="365760" cy="182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59" y="26060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A1A2E"/>
                </a:solidFill>
              </a:defRPr>
            </a:pPr>
            <a:r>
              <a:t>D2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74320" y="3200400"/>
            <a:ext cx="4114800" cy="13716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3246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FP Vote Count: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FP1: 4 votes  |  FP2: 3 votes  |  FP3: 3 votes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FP4: 3 votes  |  FP5: 2 votes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Dominant FP = FP1 (Each Child is Unique)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54880" y="3200400"/>
            <a:ext cx="4114800" cy="13716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37760" y="3246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</a:defRPr>
            </a:pPr>
            <a:r>
              <a:t>Depth Calculation: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37760" y="3566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D2: 6 responses  |  D3: 9 responses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Avg = (6×2 + 9×3) / 15 = 39/15 = 2.6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Depth Band = MID (2.2 – 3.0)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74320" y="4754880"/>
            <a:ext cx="8595360" cy="7315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Ms. Sandhya's PDDM Result: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</a:defRPr>
            </a:pPr>
            <a:r>
              <a:t>Dominant FP = FP1  |  Avg Depth = 2.6 (Mid)  |  Most responses at D3 = strong diagnostic intent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74320" y="5669280"/>
            <a:ext cx="8595360" cy="9144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5715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</a:defRPr>
            </a:pPr>
            <a:r>
              <a:t>How this feeds SET: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Her data joins 35 other teachers in branch M031 → school-level orientation distribution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SET1 asks: Does the school's FP distribution match the leaders'? If not, WHERE is the gap?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SET2 asks: Her base001 area scores (A1-A4) explain WHY her depth is at 2.6 and not higher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From Individual to School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PDDM gives per-teacher results. SET aggregates them to school/cluster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3931920" cy="2286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Per Teacher (PDDM)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 A: FP1, Depth 2.6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 B: FP4, Depth 1.8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 C: FP1, Depth 2.1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 D: FP3, Depth 3.0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 E: FP4, Depth 1.5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...(35 teachers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54480"/>
            <a:ext cx="3931920" cy="228600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Per School (SET1)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 FP Distribution: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FP1: 35%  FP2: 15%  FP3: 20%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FP4: 25%  FP5: 5%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Avg Depth by FP: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FP1: 2.4  FP4: 1.7  FP3: 2.8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Dominant FP (teachers) = FP1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114800"/>
            <a:ext cx="3931920" cy="11887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</a:defRPr>
            </a:pPr>
            <a:r>
              <a:t>Leader Orientation (from 7890/104)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4 leaders in this branch: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FP3: 2, FP1: 1, FP4: 1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  Dominant FP (leaders) = FP3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114800"/>
            <a:ext cx="393192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</a:defRPr>
            </a:pPr>
            <a:r>
              <a:t>Alignment State for FP1: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526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Teachers: HIGH (35%)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Leaders: LOW (25%)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Depth: LOW (2.4 &lt; 3.0)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→ State: TEACHER-LED INTENT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577840"/>
            <a:ext cx="8595360" cy="10058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Then base001-004 explains WHY: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FDBFE"/>
                </a:solidFill>
              </a:defRPr>
            </a:pPr>
            <a:r>
              <a:t>A1 (Learning Diagnostics) = 3.09 (Mid) → tools exist but follow-through is weak</a:t>
            </a:r>
          </a:p>
          <a:p>
            <a:pPr>
              <a:spcAft>
                <a:spcPts val="300"/>
              </a:spcAft>
              <a:defRPr sz="1100">
                <a:solidFill>
                  <a:srgbClr val="BFDBFE"/>
                </a:solidFill>
              </a:defRPr>
            </a:pPr>
            <a:r>
              <a:t>B3 (Teacher Dev Culture) = 3.50 (High) → leaders say growth is protected</a:t>
            </a:r>
          </a:p>
          <a:p>
            <a:pPr>
              <a:spcAft>
                <a:spcPts val="300"/>
              </a:spcAft>
              <a:defRPr sz="1100">
                <a:solidFill>
                  <a:srgbClr val="BFDBFE"/>
                </a:solidFill>
              </a:defRPr>
            </a:pPr>
            <a:r>
              <a:t>A2 (Teacher Dev) = 2.40 (Low) → but teachers don't feel safe → PERCEPTION GAP detected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PDDM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64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Teacher picks answers (doesn't see tags)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4884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67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FP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67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Each answer has a hidden FP tag (FP1-FP5)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65176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697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70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DEPTH 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70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Each answer has a hidden Depth tag (D1-D4)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15468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72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DOMINANT FP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172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Count FP votes → most frequent = dominant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65760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703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7588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AVG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67588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Average depth score → D1-D4 band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16052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17880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3C5FD"/>
                </a:solidFill>
              </a:defRPr>
            </a:pPr>
            <a:r>
              <a:t>PER-FP 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1788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Depth for each FP separately (for SET)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663440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70915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68172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6817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All teachers → school-level distribution (SET1)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5166359"/>
            <a:ext cx="5486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21207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18464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18464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</a:defRPr>
            </a:pPr>
            <a:r>
              <a:t>base001-004 areas explain WHY depth stalls (SET2)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FDBFE"/>
                </a:solidFill>
              </a:defRPr>
            </a:pPr>
            <a:r>
              <a:t>PDDM makes invisible intent visible.</a:t>
            </a:r>
            <a:br/>
            <a:r>
              <a:t>It turns a simple survey into a diagnostic lens</a:t>
            </a:r>
            <a:br/>
            <a:r>
              <a:t>without teachers ever knowing they're being "measured."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