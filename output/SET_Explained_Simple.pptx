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SET — Structured Explanation of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FDBFE"/>
                </a:solidFill>
              </a:defRPr>
            </a:pPr>
            <a:r>
              <a:t>A Simple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C5FD"/>
                </a:solidFill>
              </a:defRPr>
            </a:pPr>
            <a:r>
              <a:t>How NEP intent becomes (or fails to become)</a:t>
            </a:r>
            <a:br/>
            <a:r>
              <a:t>classroom practice under real school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3C5FD"/>
                </a:solidFill>
              </a:defRPr>
            </a:pPr>
            <a:r>
              <a:t>Connected to: base001 | base002 | base003 | base004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7D8B"/>
                </a:solidFill>
              </a:defRPr>
            </a:pPr>
            <a:r>
              <a:t>Project Kshitij | Myelin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SET?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SET is NOT a score. It is a structured way to read and explain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8229600" cy="10972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</a:defRPr>
            </a:pPr>
            <a:r>
              <a:t>1. WHERE are the gaps?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SET1 compares what leaders &amp; teachers intend (orientation) with what actually happens in classrooms (depth)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8229600" cy="10972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5467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</a:defRPr>
            </a:pPr>
            <a:r>
              <a:t>2. WHY do gaps exist?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SET2 looks at school conditions (diagnostic areas) that make practice easier or harder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8229600" cy="10972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</a:defRPr>
            </a:pPr>
            <a:r>
              <a:t>3. WHAT patterns emerge?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Archetypes — recurring patterns across schools that help target interventions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669280"/>
            <a:ext cx="8229600" cy="7315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760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7706"/>
                </a:solidFill>
              </a:defRPr>
            </a:pPr>
            <a:r>
              <a:t>Key principle: SET preserves dignity — it explains conditions, not people.</a:t>
            </a:r>
            <a:br/>
            <a:r>
              <a:t>"Translation is constrained by specific, addressable conditions — not by teacher resistance."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Interpretive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Data is read in this order — top to bottom. Each layer explains the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8229600" cy="1463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Layer 1: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7FF"/>
                </a:solidFill>
              </a:defRPr>
            </a:pPr>
            <a:r>
              <a:t>Where does attention naturally go?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FDBFE"/>
                </a:solidFill>
              </a:defRPr>
            </a:pPr>
            <a:r>
              <a:t>Source: setCodes: 1234, 7890, 103,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</a:defRPr>
            </a:pPr>
            <a:r>
              <a:t>FP1-FP5 (Each Child Unique, Holistic Learning, Reflective Practitioner, Assessment, Collaboration)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7280"/>
                </a:solidFill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37560"/>
            <a:ext cx="8229600" cy="1463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83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Layer 2: PRACTICE 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7FF"/>
                </a:solidFill>
              </a:defRPr>
            </a:pPr>
            <a:r>
              <a:t>How far does intent translate into action?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FDBFE"/>
                </a:solidFill>
              </a:defRPr>
            </a:pPr>
            <a:r>
              <a:t>Source: Derived from orientation responses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</a:defRPr>
            </a:pPr>
            <a:r>
              <a:t>D1 (Procedural) → D2 (Responsive) → D3 (Diagnostic) → D4 (Adaptive)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7280"/>
                </a:solidFill>
              </a:defRPr>
            </a:pPr>
            <a: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8229600" cy="14630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1663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Layer 3: PRACTICE DIAGNOSTICS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7FF"/>
                </a:solidFill>
              </a:defRPr>
            </a:pPr>
            <a:r>
              <a:t>What conditions make practice easier or harder?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FDBFE"/>
                </a:solidFill>
              </a:defRPr>
            </a:pPr>
            <a:r>
              <a:t>Source: setCodes: base001, base002, base003, base004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8075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</a:defRPr>
            </a:pPr>
            <a:r>
              <a:t>Teacher: A1-A4  |  Leader: B1-B5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base001 – base004: The Practice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These are Layer 3 — they explain WHY practice depth looks the way it does.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420624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904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TEACHER LENS  (base001 EN / base003 MR)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011680"/>
            <a:ext cx="4206240" cy="777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Continuous Learning Diagnostics (5 Qs)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Can teachers SEE learning gaps?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880360"/>
            <a:ext cx="4206240" cy="777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986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A2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Teacher Development &amp; Growth (5 Qs)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46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Do teachers feel SAFE to change?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749040"/>
            <a:ext cx="4206240" cy="777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HPC Enablement (5 Qs)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Is assessment FORMATIVE or ritual?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617720"/>
            <a:ext cx="4206240" cy="7772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360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A4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636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Parent &amp; Community Support (4 Qs)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834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Is collaboration ENABLED or dumped?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1463040"/>
            <a:ext cx="420624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14904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LEADER LENS  (base002 EN / base004 MR)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2011680"/>
            <a:ext cx="4206240" cy="77724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0299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B1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029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NEP Governance &amp; Ownership (3 Qs)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377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Is NEP OWNED or just spoken about?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2880360"/>
            <a:ext cx="4206240" cy="77724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28986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B2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898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Data-Informed Decisions (3 Qs)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246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Does data INFLUENCE decisions?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3749040"/>
            <a:ext cx="4206240" cy="77724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B3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Teacher Development Culture (3 Qs)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Is teacher growth PROTECTED?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4617720"/>
            <a:ext cx="4206240" cy="77724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46360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B4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4636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HPC &amp; Reporting Culture (3 Qs)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9834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Is HPC a NARRATIVE or compliance?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63440" y="5486400"/>
            <a:ext cx="4206240" cy="77724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5504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B5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5504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Parent &amp; Community Partnerships (3 Qs)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5852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Is collaboration STRATEGIC?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5943600"/>
            <a:ext cx="8595360" cy="6400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989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97706"/>
                </a:solidFill>
              </a:defRPr>
            </a:pPr>
            <a:r>
              <a:t>19 teacher Qs + 15 leader Qs = 34 scored questions per school</a:t>
            </a:r>
            <a:br/>
            <a:r>
              <a:t>All Likert 4-point (Strongly Agree → Strongly Disagree). English + Marathi merged per lens.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Cross-Reading: Teacher ↔ Leader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When Teacher and Leader views DIVERGE on the same topic, the gap itself is a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554480"/>
            <a:ext cx="2194560" cy="3657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15727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Teacher Development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011680"/>
            <a:ext cx="3017520" cy="7315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A2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Do teachers feel safe to grow?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011680"/>
            <a:ext cx="3017520" cy="7315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B3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Does leadership protect growth?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834639"/>
            <a:ext cx="2194560" cy="3657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85292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HPC / 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291839"/>
            <a:ext cx="3017520" cy="7315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661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Do teachers understand HPC?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291839"/>
            <a:ext cx="3017520" cy="7315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B4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5661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Does leadership treat HPC as narrative?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4114800"/>
            <a:ext cx="2194560" cy="3657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413308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Parent Engagement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572000"/>
            <a:ext cx="3017520" cy="7315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A4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Are teachers supported?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4572000"/>
            <a:ext cx="3017520" cy="7315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572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B5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Does school have a strategy?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5394960"/>
            <a:ext cx="2194560" cy="3657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54132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Learning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852160"/>
            <a:ext cx="3017520" cy="7315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852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A1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Can teachers see gaps?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2160" y="5852160"/>
            <a:ext cx="3017520" cy="7315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5852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B2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Does leadership use data for decisions?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6766560"/>
            <a:ext cx="8595360" cy="82296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812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97706"/>
                </a:solidFill>
              </a:defRPr>
            </a:pPr>
            <a:r>
              <a:t>Both High = Validated strength  |  Both Low = Confirmed gap</a:t>
            </a:r>
            <a:br/>
            <a:r>
              <a:t>Leader High + Teacher Low = Perception gap (leaders think it's fine, teachers don't)</a:t>
            </a:r>
            <a:br/>
            <a:r>
              <a:t>Teacher High + Leader Low = Informal support exists despite no formal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SET1: WHERE Are the Gaps?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SET1 compares orientation (what people intend) with depth (what actually happens).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5 Foundational Philosophies (FPs)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365760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FP1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Each Child is Unique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365760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FP2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Holistic &amp; Experiential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51760"/>
            <a:ext cx="365760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FP3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Teacher as Reflective Practitioner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365760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FP4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Assessment for Learning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83279"/>
            <a:ext cx="365760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832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FP5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3832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Collaboration &amp; Community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4 Practice Depth Levels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1920240"/>
            <a:ext cx="4114800" cy="32004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920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D1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Procedural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1920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Follows steps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2286000"/>
            <a:ext cx="4114800" cy="3200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2286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D2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Responsive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Adjusts to students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2651760"/>
            <a:ext cx="411480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26517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D3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Diagnostic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651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Identifies root causes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3017520"/>
            <a:ext cx="4114800" cy="32004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3017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</a:defRPr>
            </a:pPr>
            <a:r>
              <a:t>D4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Adaptive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017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Creates new approaches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5 Alignment States (per FP, per school)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297680"/>
            <a:ext cx="8229600" cy="36576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315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Intent High, Translation 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4315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Both intend it, but classrooms haven't changed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709160"/>
            <a:ext cx="8229600" cy="36576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727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</a:defRPr>
            </a:pPr>
            <a:r>
              <a:t>Teacher-Led Intent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727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Teachers ahead of leadership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120640"/>
            <a:ext cx="8229600" cy="36576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1389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</a:defRPr>
            </a:pPr>
            <a:r>
              <a:t>Leader-Led Intent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51389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Leadership ahead of teachers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532120"/>
            <a:ext cx="8229600" cy="36576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550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</a:defRPr>
            </a:pPr>
            <a:r>
              <a:t>Low Attention Zone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5550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Neither side focuses here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943600"/>
            <a:ext cx="8229600" cy="3657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961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</a:defRPr>
            </a:pPr>
            <a:r>
              <a:t>Aligned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5961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Intent + depth + practice all match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SET2: WHY Do Gaps Exist?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SET2 uses the diagnostic areas from base001-base004 to explain</a:t>
            </a:r>
            <a:br/>
            <a:r>
              <a:t>why practice depth stalls at a given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Each FP has specific areas that explain its depth: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457200" cy="320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FP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194560"/>
            <a:ext cx="2011680" cy="320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Philosophy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194560"/>
            <a:ext cx="1371600" cy="320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79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Teacher Areas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94560"/>
            <a:ext cx="1371600" cy="320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Leader Areas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194560"/>
            <a:ext cx="2926080" cy="320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59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Core 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60320"/>
            <a:ext cx="457200" cy="3657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578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FP1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2560320"/>
            <a:ext cx="2011680" cy="3657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5786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Each Child Unique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2560320"/>
            <a:ext cx="1371600" cy="3657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79" y="25786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A1 + A3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560320"/>
            <a:ext cx="1371600" cy="3657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5786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B2 + B4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2560320"/>
            <a:ext cx="2926080" cy="3657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59" y="25786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Can teachers see uniqueness? Is HPC alive?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971800"/>
            <a:ext cx="457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9900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FP2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2971800"/>
            <a:ext cx="20116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29900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Holistic Learning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08960" y="2971800"/>
            <a:ext cx="1371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4679" y="29900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A3 + A2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2971800"/>
            <a:ext cx="1371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29900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B1 + B4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2971800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59" y="29900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Shared meaning? Safe to experiment?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383280"/>
            <a:ext cx="457200" cy="3657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401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FP3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" y="3383280"/>
            <a:ext cx="2011680" cy="3657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34015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Reflective Practitioner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8960" y="3383280"/>
            <a:ext cx="1371600" cy="3657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4679" y="34015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A2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0" y="3383280"/>
            <a:ext cx="1371600" cy="3657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17720" y="34015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B3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3383280"/>
            <a:ext cx="2926080" cy="3657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59" y="34015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Is reflection safe and supported?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794760"/>
            <a:ext cx="4572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8130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FP4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5840" y="3794760"/>
            <a:ext cx="20116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38130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Assessment for Learning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08960" y="3794760"/>
            <a:ext cx="1371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79" y="3813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A1 + A3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0" y="3794760"/>
            <a:ext cx="137160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17720" y="38130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B2 + B4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0" y="3794760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80759" y="38130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Tools exist? Data used?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4206240"/>
            <a:ext cx="457200" cy="3657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4224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</a:defRPr>
            </a:pPr>
            <a:r>
              <a:t>FP5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5840" y="4206240"/>
            <a:ext cx="2011680" cy="3657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1560" y="42245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Collaboration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108960" y="4206240"/>
            <a:ext cx="1371600" cy="3657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54679" y="4224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A4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0" y="4206240"/>
            <a:ext cx="1371600" cy="3657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17720" y="4224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B1 + B3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35040" y="4206240"/>
            <a:ext cx="2926080" cy="36576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80759" y="4224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Is collaboration enabled? Ownership shared?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Area Score Banding (mean of sub-area Likert scores, 1-4):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5029200"/>
            <a:ext cx="2560320" cy="6400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5029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LOW (&lt; 2.5)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349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</a:defRPr>
            </a:pPr>
            <a:r>
              <a:t>System not supporting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00400" y="5029200"/>
            <a:ext cx="2560320" cy="6400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91840" y="5029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MID (2.5 – 3.2)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91840" y="5349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</a:defRPr>
            </a:pPr>
            <a:r>
              <a:t>Partial support, gaps exist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43600" y="5029200"/>
            <a:ext cx="2560320" cy="6400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35040" y="5029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HIGH (&gt; 3.2)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35040" y="5349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</a:defRPr>
            </a:pPr>
            <a:r>
              <a:t>Actively supported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5943600"/>
            <a:ext cx="8229600" cy="5486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59893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97706"/>
                </a:solidFill>
              </a:defRPr>
            </a:pPr>
            <a:r>
              <a:t>SET2 Rule: Areas explain depth — they do NOT define orientation.</a:t>
            </a:r>
            <a:br/>
            <a:r>
              <a:t>Teacher areas (A) = classroom constraints. Leader areas (B) = system constraints. Never merge at individual level.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Example: Reading a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Branch M017 — how SET reads the data step by step: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463040"/>
            <a:ext cx="7589520" cy="8686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81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Teachers' dominant FP = FP4 (Assessment for Learning)</a:t>
            </a:r>
            <a:br/>
            <a:r>
              <a:t>Leaders' dominant FP = FP3 (Reflective Practitioner)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54864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468880"/>
            <a:ext cx="7589520" cy="8686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487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</a:defRPr>
            </a:pPr>
            <a:r>
              <a:t>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43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Teacher practice depth for FP4 = D2 (Responsive)</a:t>
            </a:r>
            <a:br/>
            <a:r>
              <a:t>Depth hasn't reached D3 (Diagnostic) yet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54864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474720"/>
            <a:ext cx="7589520" cy="8686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93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</a:defRPr>
            </a:pPr>
            <a:r>
              <a:t>DIAGNOSTICS</a:t>
            </a:r>
            <a:br/>
            <a:r>
              <a:t>(base001)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490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A1 = 3.09 (Mid) — tools exist but not fully used</a:t>
            </a:r>
            <a:br/>
            <a:r>
              <a:t>A3 = 2.97 (Mid) — HPC understanding partial</a:t>
            </a:r>
            <a:br/>
            <a:r>
              <a:t>A1 Follow-through = LOW — no time to act on insights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80560"/>
            <a:ext cx="548640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480560"/>
            <a:ext cx="7589520" cy="10972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498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SET SENTENCE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"Given high FP4 orientation and practice depth at D2,</a:t>
            </a:r>
            <a:br/>
            <a:r>
              <a:t>translation is shaped by low follow-through in A1,</a:t>
            </a:r>
            <a:br/>
            <a:r>
              <a:t>indicating that time constraints — not teacher</a:t>
            </a:r>
            <a:br/>
            <a:r>
              <a:t>resistance — are the limiting factor."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6 Archetypes: Common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Archetypes help schools recognize their pattern and target interventions.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229600" cy="68580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</a:defRPr>
            </a:pPr>
            <a:r>
              <a:t>ARCH-01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389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</a:defRPr>
            </a:pPr>
            <a:r>
              <a:t>Intent without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Everyone intends it, but no shared language or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48840"/>
            <a:ext cx="8229600" cy="68580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671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</a:defRPr>
            </a:pPr>
            <a:r>
              <a:t>ARCH-02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671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</a:defRPr>
            </a:pPr>
            <a:r>
              <a:t>Reflection without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468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Teachers reflect but don't act — fear blocks 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8229600" cy="6858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44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</a:defRPr>
            </a:pPr>
            <a:r>
              <a:t>ARCH-03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443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</a:defRPr>
            </a:pPr>
            <a:r>
              <a:t>Teachers ahead of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246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Teachers lead, but leadership hasn't operationalised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03320"/>
            <a:ext cx="8229600" cy="6858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2160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</a:defRPr>
            </a:pPr>
            <a:r>
              <a:t>ARCH-04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7216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</a:defRPr>
            </a:pPr>
            <a:r>
              <a:t>Leadership ahead of teachers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02335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Leadership intends it, but classrooms don't have follow-through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59"/>
            <a:ext cx="8229600" cy="68580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9884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</a:defRPr>
            </a:pPr>
            <a:r>
              <a:t>ARCH-05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49884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</a:defRPr>
            </a:pPr>
            <a:r>
              <a:t>Low attention zone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80059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Neither side focuses here — foundational orientation needed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257799"/>
            <a:ext cx="8229600" cy="6858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27608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</a:defRPr>
            </a:pPr>
            <a:r>
              <a:t>ARCH-06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27608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</a:defRPr>
            </a:pPr>
            <a:r>
              <a:t>Fully aligned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57783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Intent + depth + conditions all coherent — sustain and deepen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35040"/>
            <a:ext cx="8229600" cy="54864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0807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C3AED"/>
                </a:solidFill>
              </a:defRPr>
            </a:pPr>
            <a:r>
              <a:t>Archetypes are sense-making constructs, NOT evaluations.</a:t>
            </a:r>
            <a:br/>
            <a:r>
              <a:t>They are group-level only (school/cluster). They never imply ranking or blame.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Summary: The Complete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Orientation Surveys (1234/7890/103/104)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</a:defRPr>
            </a:pPr>
            <a:r>
              <a:t>    ↓  reveal FP1-FP5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Practice Depth (derived from orientation)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06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</a:defRPr>
            </a:pPr>
            <a:r>
              <a:t>    ↓  shows D1-D4 translation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Practice Diagnostics (base001-base004)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</a:defRPr>
            </a:pPr>
            <a:r>
              <a:t>    ↓  explain conditions via A1-A4 + B1-B5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SET1: WHERE gaps exist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862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</a:defRPr>
            </a:pPr>
            <a:r>
              <a:t>    ↓  alignment states per FP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06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SET2: WHY gaps exist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2627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</a:defRPr>
            </a:pPr>
            <a:r>
              <a:t>    ↓  area conditions + canonical sentences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1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Archetypes: WHAT pattern this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16635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3C5FD"/>
                </a:solidFill>
              </a:defRPr>
            </a:pPr>
            <a:r>
              <a:t>    →  targeted intervention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FDBFE"/>
                </a:solidFill>
              </a:defRPr>
            </a:pPr>
            <a:r>
              <a:t>SET tells schools: "Here's what's happening, here's why,</a:t>
            </a:r>
            <a:br/>
            <a:r>
              <a:t>and here's what would make the biggest difference."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